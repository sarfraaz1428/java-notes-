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5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DA86-7816-6B7F-8E7F-4EFF4D5E3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3F574-CBE3-FD05-4F50-304E187BB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7699C-D122-688E-0FC5-9FE0204E3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701D-1547-4137-922F-6E1C3C07CFA2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F1A27-2C66-FED9-8A9B-11BA004CC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F4780-E311-FAE2-5DBB-D4ECC3148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E412-8B44-4990-B29F-211A9235D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478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56861-D9EA-8607-9C2B-D61E3499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75D53-8A82-71A9-6624-2853CC8CE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0F2BD-D6BA-1F47-3375-321A3AE4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701D-1547-4137-922F-6E1C3C07CFA2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E8F94-DAFF-BACB-4211-C91F2F227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C0D3B-F781-95FD-63A3-6343F2EFC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E412-8B44-4990-B29F-211A9235D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190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2E8D-714B-2DE6-4A13-4F3FE4450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57361-D1E0-FE4E-70E3-1930D1F2E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80F6E-E23A-6FCE-AE09-69842A174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701D-1547-4137-922F-6E1C3C07CFA2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79AC3-DFAD-0E82-FB80-E92B32BAC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0F72A-D69B-7829-D13B-F08D9FB1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E412-8B44-4990-B29F-211A9235D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655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5FAB-B3AF-8B64-089C-DE131C326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C4FB3-CB8B-81F4-4552-9B319CA26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DCF80-E207-6EC3-4B6C-0FCDCACCC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62438-E77C-920A-7A9C-F483A5B1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701D-1547-4137-922F-6E1C3C07CFA2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4E909-7B94-80FA-F10A-15859C92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4FA55-0251-AE1A-A813-270B3BA8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E412-8B44-4990-B29F-211A9235D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422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D5AF9-FAC8-B933-92B3-6C53EDF4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0BE8B-012C-06F8-D070-3C95BA7AB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6C0BE-E7D4-2F60-E474-30386CB11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006BE8-A5CA-47E5-87A5-A59E8D798E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2380A2-DF07-EF00-EA83-17B742F8CD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042DFC-180F-5667-13EB-232C13474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701D-1547-4137-922F-6E1C3C07CFA2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0DEF24-A2C7-CF05-08D4-8825AAA20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6BEDDB-53B5-D68F-BF64-D9879097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E412-8B44-4990-B29F-211A9235D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760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436F5-EFCE-CFC0-B011-67FE84CB7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FA1A39-B4B9-03B6-1AE2-93718AACB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701D-1547-4137-922F-6E1C3C07CFA2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D52605-6267-24AB-B282-72A1AFEA4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B49A4-332C-9533-A7B0-29044514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E412-8B44-4990-B29F-211A9235D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142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8F3D34-07F6-470E-0CAD-27450FF18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701D-1547-4137-922F-6E1C3C07CFA2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2BC5E-2707-4F59-D652-18AB806FA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2DE00-A504-22A5-A252-CECE3046A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E412-8B44-4990-B29F-211A9235D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09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4885-D32C-F02C-3818-3413837CD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8038E-9ADB-4D18-CE40-7438E1D49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68900-DE59-5970-BD2A-AAD6EC0A5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90126-3F8E-CAD2-3255-68ABF685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701D-1547-4137-922F-6E1C3C07CFA2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50539-1B90-BEC6-FA70-4D7A99D91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A1CB4-B79F-BBB2-DAB5-28967BC1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E412-8B44-4990-B29F-211A9235D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11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A72A-393F-0BAD-2525-5FD57487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0DF2BF-1673-519E-B3DB-169482E94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56BCD-CF01-8E73-71AB-3AA4D882C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62484-1FF0-F10D-FA38-8F67A2CA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701D-1547-4137-922F-6E1C3C07CFA2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1EF28-202E-C276-4AB8-5B3DD7DF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1A98D-5D29-7163-F9E6-298E036F2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E412-8B44-4990-B29F-211A9235D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855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6C5D-9C32-A179-0778-5EFF7AEF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DE1DD-AF38-6D54-CF21-F4EABB972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CFBAD-6E6F-40F0-4DB1-981EEB14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701D-1547-4137-922F-6E1C3C07CFA2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07F5C-C7FF-BEBC-82B7-56C05417E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E8ED4-1120-2D59-71C4-37A0012E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E412-8B44-4990-B29F-211A9235D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801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9FF21B-9ADC-54F1-E2C1-023FC46E6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1CBA5-EA2F-3986-2C1C-A0E31F49B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A7FD2-8297-28D3-2DB3-789E7AEF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701D-1547-4137-922F-6E1C3C07CFA2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0F19E-B75D-6194-EBE3-F1C3530FF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97DE9-025B-7A96-5E32-7062EB85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E412-8B44-4990-B29F-211A9235D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373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0275F-A0A1-1DFD-CE10-7AE33B4FB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264B8-9F17-EABA-82B8-71CFCA1DF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4CA98-8823-2021-86E0-F8B0658EA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D701D-1547-4137-922F-6E1C3C07CFA2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CF32B-6D03-F2E6-AB88-668A5B6E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DEDFD-82C3-4AEB-322E-ADFC666E6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E412-8B44-4990-B29F-211A9235D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87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964A1-B6A6-CABC-AA8F-58C0DB5018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Constructors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307956-C577-7336-6172-2D7F8CE29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45" y="90350"/>
            <a:ext cx="8450538" cy="103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989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762F-B1E7-1117-4E94-1A52A7F0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78771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DBF2D-7B82-AA9F-6225-E5A16476C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94619"/>
            <a:ext cx="7886700" cy="4982344"/>
          </a:xfrm>
        </p:spPr>
        <p:txBody>
          <a:bodyPr>
            <a:normAutofit fontScale="92500"/>
          </a:bodyPr>
          <a:lstStyle/>
          <a:p>
            <a:r>
              <a:rPr lang="en-US" dirty="0"/>
              <a:t>A constructor initializes an object immediately upon creation. It has the same name as the class in which it resides and is syntactically similar to a method.</a:t>
            </a:r>
          </a:p>
          <a:p>
            <a:r>
              <a:rPr lang="en-US" dirty="0"/>
              <a:t>Once defined, the constructor is automatically called immediately after the object is created, before the new operator completes.</a:t>
            </a:r>
          </a:p>
          <a:p>
            <a:r>
              <a:rPr lang="en-US" dirty="0"/>
              <a:t>Constructors have no return type, not even void.</a:t>
            </a:r>
          </a:p>
          <a:p>
            <a:r>
              <a:rPr lang="en-US" dirty="0"/>
              <a:t>the implicit return type of a </a:t>
            </a:r>
            <a:r>
              <a:rPr lang="en-US" dirty="0" err="1"/>
              <a:t>class’</a:t>
            </a:r>
            <a:r>
              <a:rPr lang="en-US" dirty="0"/>
              <a:t> constructor is the class type itself.</a:t>
            </a:r>
          </a:p>
          <a:p>
            <a:r>
              <a:rPr lang="en-US" dirty="0"/>
              <a:t>the constructor’s job to initialize the internal state of an object so that the code creating an instance will have a fully initialized, usable object immediately.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4003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3F262B-55F3-0628-BC2C-DDD1EE3E6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4" y="-1"/>
            <a:ext cx="8775290" cy="649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4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9FD53E-A049-E062-1A84-C484AA4865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299" b="-2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3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153EDB2-4AAD-43F4-AE78-4D326C813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3CB7779-72E2-4E92-AE18-6BBC335DD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717" y="0"/>
            <a:ext cx="8323428" cy="6858000"/>
            <a:chOff x="547625" y="0"/>
            <a:chExt cx="11097905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75B9DA5-08BD-40EA-B06C-3D3CCD06A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07575" y="0"/>
              <a:ext cx="10345003" cy="6858000"/>
            </a:xfrm>
            <a:custGeom>
              <a:avLst/>
              <a:gdLst>
                <a:gd name="connsiteX0" fmla="*/ 7551973 w 9174595"/>
                <a:gd name="connsiteY0" fmla="*/ 0 h 6858000"/>
                <a:gd name="connsiteX1" fmla="*/ 5634635 w 9174595"/>
                <a:gd name="connsiteY1" fmla="*/ 0 h 6858000"/>
                <a:gd name="connsiteX2" fmla="*/ 5550590 w 9174595"/>
                <a:gd name="connsiteY2" fmla="*/ 0 h 6858000"/>
                <a:gd name="connsiteX3" fmla="*/ 5480986 w 9174595"/>
                <a:gd name="connsiteY3" fmla="*/ 0 h 6858000"/>
                <a:gd name="connsiteX4" fmla="*/ 4886240 w 9174595"/>
                <a:gd name="connsiteY4" fmla="*/ 0 h 6858000"/>
                <a:gd name="connsiteX5" fmla="*/ 4816638 w 9174595"/>
                <a:gd name="connsiteY5" fmla="*/ 0 h 6858000"/>
                <a:gd name="connsiteX6" fmla="*/ 4357958 w 9174595"/>
                <a:gd name="connsiteY6" fmla="*/ 0 h 6858000"/>
                <a:gd name="connsiteX7" fmla="*/ 4288354 w 9174595"/>
                <a:gd name="connsiteY7" fmla="*/ 0 h 6858000"/>
                <a:gd name="connsiteX8" fmla="*/ 3693608 w 9174595"/>
                <a:gd name="connsiteY8" fmla="*/ 0 h 6858000"/>
                <a:gd name="connsiteX9" fmla="*/ 3624006 w 9174595"/>
                <a:gd name="connsiteY9" fmla="*/ 0 h 6858000"/>
                <a:gd name="connsiteX10" fmla="*/ 3276448 w 9174595"/>
                <a:gd name="connsiteY10" fmla="*/ 0 h 6858000"/>
                <a:gd name="connsiteX11" fmla="*/ 1622622 w 9174595"/>
                <a:gd name="connsiteY11" fmla="*/ 0 h 6858000"/>
                <a:gd name="connsiteX12" fmla="*/ 1600504 w 9174595"/>
                <a:gd name="connsiteY12" fmla="*/ 14997 h 6858000"/>
                <a:gd name="connsiteX13" fmla="*/ 0 w 9174595"/>
                <a:gd name="connsiteY13" fmla="*/ 3621656 h 6858000"/>
                <a:gd name="connsiteX14" fmla="*/ 1873886 w 9174595"/>
                <a:gd name="connsiteY14" fmla="*/ 6374814 h 6858000"/>
                <a:gd name="connsiteX15" fmla="*/ 2390406 w 9174595"/>
                <a:gd name="connsiteY15" fmla="*/ 6780599 h 6858000"/>
                <a:gd name="connsiteX16" fmla="*/ 2502136 w 9174595"/>
                <a:gd name="connsiteY16" fmla="*/ 6858000 h 6858000"/>
                <a:gd name="connsiteX17" fmla="*/ 3276448 w 9174595"/>
                <a:gd name="connsiteY17" fmla="*/ 6858000 h 6858000"/>
                <a:gd name="connsiteX18" fmla="*/ 3624006 w 9174595"/>
                <a:gd name="connsiteY18" fmla="*/ 6858000 h 6858000"/>
                <a:gd name="connsiteX19" fmla="*/ 3693608 w 9174595"/>
                <a:gd name="connsiteY19" fmla="*/ 6858000 h 6858000"/>
                <a:gd name="connsiteX20" fmla="*/ 4288354 w 9174595"/>
                <a:gd name="connsiteY20" fmla="*/ 6858000 h 6858000"/>
                <a:gd name="connsiteX21" fmla="*/ 4357958 w 9174595"/>
                <a:gd name="connsiteY21" fmla="*/ 6858000 h 6858000"/>
                <a:gd name="connsiteX22" fmla="*/ 4816638 w 9174595"/>
                <a:gd name="connsiteY22" fmla="*/ 6858000 h 6858000"/>
                <a:gd name="connsiteX23" fmla="*/ 4886240 w 9174595"/>
                <a:gd name="connsiteY23" fmla="*/ 6858000 h 6858000"/>
                <a:gd name="connsiteX24" fmla="*/ 5480986 w 9174595"/>
                <a:gd name="connsiteY24" fmla="*/ 6858000 h 6858000"/>
                <a:gd name="connsiteX25" fmla="*/ 5550590 w 9174595"/>
                <a:gd name="connsiteY25" fmla="*/ 6858000 h 6858000"/>
                <a:gd name="connsiteX26" fmla="*/ 5634635 w 9174595"/>
                <a:gd name="connsiteY26" fmla="*/ 6858000 h 6858000"/>
                <a:gd name="connsiteX27" fmla="*/ 6672460 w 9174595"/>
                <a:gd name="connsiteY27" fmla="*/ 6858000 h 6858000"/>
                <a:gd name="connsiteX28" fmla="*/ 6784188 w 9174595"/>
                <a:gd name="connsiteY28" fmla="*/ 6780599 h 6858000"/>
                <a:gd name="connsiteX29" fmla="*/ 7300708 w 9174595"/>
                <a:gd name="connsiteY29" fmla="*/ 6374814 h 6858000"/>
                <a:gd name="connsiteX30" fmla="*/ 9174595 w 9174595"/>
                <a:gd name="connsiteY30" fmla="*/ 3621656 h 6858000"/>
                <a:gd name="connsiteX31" fmla="*/ 7574092 w 9174595"/>
                <a:gd name="connsiteY3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174595" h="6858000">
                  <a:moveTo>
                    <a:pt x="7551973" y="0"/>
                  </a:moveTo>
                  <a:lnTo>
                    <a:pt x="5634635" y="0"/>
                  </a:lnTo>
                  <a:lnTo>
                    <a:pt x="5550590" y="0"/>
                  </a:lnTo>
                  <a:lnTo>
                    <a:pt x="5480986" y="0"/>
                  </a:lnTo>
                  <a:lnTo>
                    <a:pt x="4886240" y="0"/>
                  </a:lnTo>
                  <a:lnTo>
                    <a:pt x="4816638" y="0"/>
                  </a:lnTo>
                  <a:lnTo>
                    <a:pt x="4357958" y="0"/>
                  </a:lnTo>
                  <a:lnTo>
                    <a:pt x="4288354" y="0"/>
                  </a:lnTo>
                  <a:lnTo>
                    <a:pt x="3693608" y="0"/>
                  </a:lnTo>
                  <a:lnTo>
                    <a:pt x="3624006" y="0"/>
                  </a:lnTo>
                  <a:lnTo>
                    <a:pt x="3276448" y="0"/>
                  </a:lnTo>
                  <a:lnTo>
                    <a:pt x="1622622" y="0"/>
                  </a:lnTo>
                  <a:lnTo>
                    <a:pt x="1600504" y="14997"/>
                  </a:lnTo>
                  <a:cubicBezTo>
                    <a:pt x="573594" y="754641"/>
                    <a:pt x="0" y="2093192"/>
                    <a:pt x="0" y="3621656"/>
                  </a:cubicBezTo>
                  <a:cubicBezTo>
                    <a:pt x="0" y="4969131"/>
                    <a:pt x="928496" y="5602839"/>
                    <a:pt x="1873886" y="6374814"/>
                  </a:cubicBezTo>
                  <a:cubicBezTo>
                    <a:pt x="2046046" y="6515397"/>
                    <a:pt x="2216632" y="6653108"/>
                    <a:pt x="2390406" y="6780599"/>
                  </a:cubicBezTo>
                  <a:lnTo>
                    <a:pt x="2502136" y="6858000"/>
                  </a:lnTo>
                  <a:lnTo>
                    <a:pt x="3276448" y="6858000"/>
                  </a:lnTo>
                  <a:lnTo>
                    <a:pt x="3624006" y="6858000"/>
                  </a:lnTo>
                  <a:lnTo>
                    <a:pt x="3693608" y="6858000"/>
                  </a:lnTo>
                  <a:lnTo>
                    <a:pt x="4288354" y="6858000"/>
                  </a:lnTo>
                  <a:lnTo>
                    <a:pt x="4357958" y="6858000"/>
                  </a:lnTo>
                  <a:lnTo>
                    <a:pt x="4816638" y="6858000"/>
                  </a:lnTo>
                  <a:lnTo>
                    <a:pt x="4886240" y="6858000"/>
                  </a:lnTo>
                  <a:lnTo>
                    <a:pt x="5480986" y="6858000"/>
                  </a:lnTo>
                  <a:lnTo>
                    <a:pt x="5550590" y="6858000"/>
                  </a:lnTo>
                  <a:lnTo>
                    <a:pt x="5634635" y="6858000"/>
                  </a:lnTo>
                  <a:lnTo>
                    <a:pt x="6672460" y="6858000"/>
                  </a:lnTo>
                  <a:lnTo>
                    <a:pt x="6784188" y="6780599"/>
                  </a:lnTo>
                  <a:cubicBezTo>
                    <a:pt x="6957963" y="6653108"/>
                    <a:pt x="7128548" y="6515397"/>
                    <a:pt x="7300708" y="6374814"/>
                  </a:cubicBezTo>
                  <a:cubicBezTo>
                    <a:pt x="8246100" y="5602839"/>
                    <a:pt x="9174595" y="4969131"/>
                    <a:pt x="9174595" y="3621656"/>
                  </a:cubicBezTo>
                  <a:cubicBezTo>
                    <a:pt x="9174595" y="2093192"/>
                    <a:pt x="8601001" y="754641"/>
                    <a:pt x="7574092" y="149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EE62D72-11EF-40E9-BF23-0FCAEACDD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08673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76336F2-6633-4E26-8760-05F94D87D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75235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F3102E-7749-422F-8F51-A148252B8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5" y="0"/>
              <a:ext cx="2209181" cy="6858000"/>
            </a:xfrm>
            <a:custGeom>
              <a:avLst/>
              <a:gdLst>
                <a:gd name="connsiteX0" fmla="*/ 955085 w 2209181"/>
                <a:gd name="connsiteY0" fmla="*/ 0 h 6858000"/>
                <a:gd name="connsiteX1" fmla="*/ 937727 w 2209181"/>
                <a:gd name="connsiteY1" fmla="*/ 0 h 6858000"/>
                <a:gd name="connsiteX2" fmla="*/ 963738 w 2209181"/>
                <a:gd name="connsiteY2" fmla="*/ 24346 h 6858000"/>
                <a:gd name="connsiteX3" fmla="*/ 2184004 w 2209181"/>
                <a:gd name="connsiteY3" fmla="*/ 3809420 h 6858000"/>
                <a:gd name="connsiteX4" fmla="*/ 218679 w 2209181"/>
                <a:gd name="connsiteY4" fmla="*/ 6681644 h 6858000"/>
                <a:gd name="connsiteX5" fmla="*/ 0 w 2209181"/>
                <a:gd name="connsiteY5" fmla="*/ 6858000 h 6858000"/>
                <a:gd name="connsiteX6" fmla="*/ 19349 w 2209181"/>
                <a:gd name="connsiteY6" fmla="*/ 6858000 h 6858000"/>
                <a:gd name="connsiteX7" fmla="*/ 236958 w 2209181"/>
                <a:gd name="connsiteY7" fmla="*/ 6682507 h 6858000"/>
                <a:gd name="connsiteX8" fmla="*/ 2202283 w 2209181"/>
                <a:gd name="connsiteY8" fmla="*/ 3810283 h 6858000"/>
                <a:gd name="connsiteX9" fmla="*/ 982018 w 2209181"/>
                <a:gd name="connsiteY9" fmla="*/ 2521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55085" y="0"/>
                  </a:moveTo>
                  <a:lnTo>
                    <a:pt x="937727" y="0"/>
                  </a:lnTo>
                  <a:lnTo>
                    <a:pt x="963738" y="24346"/>
                  </a:lnTo>
                  <a:cubicBezTo>
                    <a:pt x="1818009" y="885455"/>
                    <a:pt x="2251801" y="2269402"/>
                    <a:pt x="2184004" y="3809420"/>
                  </a:cubicBezTo>
                  <a:cubicBezTo>
                    <a:pt x="2120250" y="5257592"/>
                    <a:pt x="1181008" y="5895709"/>
                    <a:pt x="218679" y="6681644"/>
                  </a:cubicBezTo>
                  <a:lnTo>
                    <a:pt x="0" y="6858000"/>
                  </a:lnTo>
                  <a:lnTo>
                    <a:pt x="19349" y="6858000"/>
                  </a:lnTo>
                  <a:lnTo>
                    <a:pt x="236958" y="6682507"/>
                  </a:lnTo>
                  <a:cubicBezTo>
                    <a:pt x="1199288" y="5896573"/>
                    <a:pt x="2138530" y="5258455"/>
                    <a:pt x="2202283" y="3810283"/>
                  </a:cubicBezTo>
                  <a:cubicBezTo>
                    <a:pt x="2270080" y="2270266"/>
                    <a:pt x="1836289" y="886318"/>
                    <a:pt x="982018" y="2521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1191CD-1211-4C40-9D45-449D9BE65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36349" y="0"/>
              <a:ext cx="2209181" cy="6858000"/>
            </a:xfrm>
            <a:custGeom>
              <a:avLst/>
              <a:gdLst>
                <a:gd name="connsiteX0" fmla="*/ 937727 w 2209181"/>
                <a:gd name="connsiteY0" fmla="*/ 0 h 6858000"/>
                <a:gd name="connsiteX1" fmla="*/ 955085 w 2209181"/>
                <a:gd name="connsiteY1" fmla="*/ 0 h 6858000"/>
                <a:gd name="connsiteX2" fmla="*/ 982018 w 2209181"/>
                <a:gd name="connsiteY2" fmla="*/ 25210 h 6858000"/>
                <a:gd name="connsiteX3" fmla="*/ 2202283 w 2209181"/>
                <a:gd name="connsiteY3" fmla="*/ 3810283 h 6858000"/>
                <a:gd name="connsiteX4" fmla="*/ 236958 w 2209181"/>
                <a:gd name="connsiteY4" fmla="*/ 6682507 h 6858000"/>
                <a:gd name="connsiteX5" fmla="*/ 19349 w 2209181"/>
                <a:gd name="connsiteY5" fmla="*/ 6858000 h 6858000"/>
                <a:gd name="connsiteX6" fmla="*/ 0 w 2209181"/>
                <a:gd name="connsiteY6" fmla="*/ 6858000 h 6858000"/>
                <a:gd name="connsiteX7" fmla="*/ 218679 w 2209181"/>
                <a:gd name="connsiteY7" fmla="*/ 6681644 h 6858000"/>
                <a:gd name="connsiteX8" fmla="*/ 2184004 w 2209181"/>
                <a:gd name="connsiteY8" fmla="*/ 3809420 h 6858000"/>
                <a:gd name="connsiteX9" fmla="*/ 963738 w 2209181"/>
                <a:gd name="connsiteY9" fmla="*/ 2434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37727" y="0"/>
                  </a:moveTo>
                  <a:lnTo>
                    <a:pt x="955085" y="0"/>
                  </a:lnTo>
                  <a:lnTo>
                    <a:pt x="982018" y="25210"/>
                  </a:lnTo>
                  <a:cubicBezTo>
                    <a:pt x="1836289" y="886318"/>
                    <a:pt x="2270080" y="2270266"/>
                    <a:pt x="2202283" y="3810283"/>
                  </a:cubicBezTo>
                  <a:cubicBezTo>
                    <a:pt x="2138530" y="5258455"/>
                    <a:pt x="1199288" y="5896573"/>
                    <a:pt x="236958" y="6682507"/>
                  </a:cubicBezTo>
                  <a:lnTo>
                    <a:pt x="19349" y="6858000"/>
                  </a:lnTo>
                  <a:lnTo>
                    <a:pt x="0" y="6858000"/>
                  </a:lnTo>
                  <a:lnTo>
                    <a:pt x="218679" y="6681644"/>
                  </a:lnTo>
                  <a:cubicBezTo>
                    <a:pt x="1181008" y="5895709"/>
                    <a:pt x="2120250" y="5257592"/>
                    <a:pt x="2184004" y="3809420"/>
                  </a:cubicBezTo>
                  <a:cubicBezTo>
                    <a:pt x="2251801" y="2269402"/>
                    <a:pt x="1818009" y="885455"/>
                    <a:pt x="963738" y="24346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pic>
        <p:nvPicPr>
          <p:cNvPr id="3" name="Picture 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6AD7CFF8-D83A-509F-816C-9E0DF2BFF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732" y="1926707"/>
            <a:ext cx="5670645" cy="32561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58C5B0-BB8C-A7FC-859E-F4C2E50F1771}"/>
              </a:ext>
            </a:extLst>
          </p:cNvPr>
          <p:cNvSpPr/>
          <p:nvPr/>
        </p:nvSpPr>
        <p:spPr>
          <a:xfrm>
            <a:off x="2734450" y="696083"/>
            <a:ext cx="27799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89645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022C6-4A71-07D5-F31F-876C0EC83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Constructors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ACB0A-468B-9C0D-9680-95597DFF5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Constructors</a:t>
            </a:r>
          </a:p>
          <a:p>
            <a:r>
              <a:rPr lang="en-US" dirty="0"/>
              <a:t>Parameterized Constructors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4593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2A9E4-9825-C4F8-BC0C-F90521BC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73739"/>
          </a:xfrm>
        </p:spPr>
        <p:txBody>
          <a:bodyPr/>
          <a:lstStyle/>
          <a:p>
            <a:r>
              <a:rPr lang="en-US" dirty="0"/>
              <a:t>Default Constructors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78953-E80F-7E2B-D187-D4BB3B4C5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8865"/>
            <a:ext cx="7886700" cy="4938098"/>
          </a:xfrm>
        </p:spPr>
        <p:txBody>
          <a:bodyPr/>
          <a:lstStyle/>
          <a:p>
            <a:r>
              <a:rPr lang="en-US" dirty="0"/>
              <a:t>When you do not explicitly define a constructor for a class, then Java creates a default constructor for the class.</a:t>
            </a:r>
          </a:p>
          <a:p>
            <a:r>
              <a:rPr lang="en-US" dirty="0"/>
              <a:t>The default constructor automatically initializes all instance variables to zero. </a:t>
            </a:r>
          </a:p>
          <a:p>
            <a:r>
              <a:rPr lang="en-US" dirty="0"/>
              <a:t>The default constructor is often sufficient for simple classes, but it usually won’t do for more sophisticated ones. </a:t>
            </a:r>
          </a:p>
          <a:p>
            <a:r>
              <a:rPr lang="en-US" dirty="0"/>
              <a:t>Once you define your own constructor, the default constructor is no longer used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73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4D49C-6D1B-CA56-70C4-30F2F62D6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Parameterized Constructors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DDA3E-5998-F440-836F-3115F6134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5949" y="1105644"/>
            <a:ext cx="5510653" cy="464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35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F72FB5-205F-3669-C8B7-77FEA6376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68" y="643466"/>
            <a:ext cx="804486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617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A146-4B4C-45C3-471B-08ACC3D68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This keyword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51478-D27A-36B5-B720-C57EFD10C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method will need to refer to the object that invoked it.</a:t>
            </a:r>
          </a:p>
          <a:p>
            <a:r>
              <a:rPr lang="en-US" dirty="0"/>
              <a:t>To allow this, Java defines the </a:t>
            </a:r>
            <a:r>
              <a:rPr lang="en-US" b="1" dirty="0">
                <a:solidFill>
                  <a:srgbClr val="FF0000"/>
                </a:solidFill>
              </a:rPr>
              <a:t>this</a:t>
            </a:r>
            <a:r>
              <a:rPr lang="en-US" dirty="0"/>
              <a:t> keyword. this can be used inside any method to refer to the current object. </a:t>
            </a:r>
          </a:p>
          <a:p>
            <a:r>
              <a:rPr lang="en-US" dirty="0"/>
              <a:t>That is, </a:t>
            </a:r>
            <a:r>
              <a:rPr lang="en-US" b="1" dirty="0">
                <a:solidFill>
                  <a:srgbClr val="FF0000"/>
                </a:solidFill>
              </a:rPr>
              <a:t>this</a:t>
            </a:r>
            <a:r>
              <a:rPr lang="en-US" dirty="0"/>
              <a:t> is always a reference to the object on which the method was invoked. You can use this anywhere a reference to an object of the current </a:t>
            </a:r>
            <a:r>
              <a:rPr lang="en-US" dirty="0" err="1"/>
              <a:t>class’</a:t>
            </a:r>
            <a:r>
              <a:rPr lang="en-US" dirty="0"/>
              <a:t> type is permitted.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4256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425612-2569-82D4-CE62-E57674A86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12" y="870155"/>
            <a:ext cx="7789376" cy="293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36C68-B3E5-2012-4B82-934CA63B9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Overloading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218E8-1ECB-6943-B7B3-D2E9DA032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 Java it is possible to define two or more methods within the same class that share the same name, as long as their parameter declarations are different.</a:t>
            </a:r>
          </a:p>
          <a:p>
            <a:r>
              <a:rPr lang="en-IN" dirty="0"/>
              <a:t>The methods are said to be </a:t>
            </a:r>
            <a:r>
              <a:rPr lang="en-IN" dirty="0" err="1"/>
              <a:t>overloaded,and</a:t>
            </a:r>
            <a:r>
              <a:rPr lang="en-IN" dirty="0"/>
              <a:t> the process is referred to as method overloading.</a:t>
            </a:r>
          </a:p>
          <a:p>
            <a:r>
              <a:rPr lang="en-US" dirty="0"/>
              <a:t>Method overloading is one of the ways that Java supports polymorphism.</a:t>
            </a:r>
            <a:endParaRPr lang="en-IN" dirty="0"/>
          </a:p>
          <a:p>
            <a:r>
              <a:rPr lang="en-US" dirty="0"/>
              <a:t>When an overloaded method is </a:t>
            </a:r>
            <a:r>
              <a:rPr lang="en-US" dirty="0" err="1"/>
              <a:t>invoked,Java</a:t>
            </a:r>
            <a:r>
              <a:rPr lang="en-US" dirty="0"/>
              <a:t> uses the type and/or number of arguments as its guide to determine which version of the overloaded method to actually call.</a:t>
            </a:r>
          </a:p>
          <a:p>
            <a:r>
              <a:rPr lang="en-US" dirty="0"/>
              <a:t>overloaded methods must differ in the type and/or number of their parameters.</a:t>
            </a:r>
          </a:p>
          <a:p>
            <a:r>
              <a:rPr lang="en-IN" dirty="0"/>
              <a:t>When Java encounters a call to an overloaded </a:t>
            </a:r>
            <a:r>
              <a:rPr lang="en-IN" dirty="0" err="1"/>
              <a:t>method,its</a:t>
            </a:r>
            <a:r>
              <a:rPr lang="en-IN" dirty="0"/>
              <a:t> imply executes the version of the method whose parameters match the arguments used in the call.</a:t>
            </a:r>
          </a:p>
        </p:txBody>
      </p:sp>
    </p:spTree>
    <p:extLst>
      <p:ext uri="{BB962C8B-B14F-4D97-AF65-F5344CB8AC3E}">
        <p14:creationId xmlns:p14="http://schemas.microsoft.com/office/powerpoint/2010/main" val="329653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3FA028-F46B-F5B2-1F40-9349971E2713}"/>
              </a:ext>
            </a:extLst>
          </p:cNvPr>
          <p:cNvGrpSpPr/>
          <p:nvPr/>
        </p:nvGrpSpPr>
        <p:grpSpPr>
          <a:xfrm>
            <a:off x="1606498" y="217231"/>
            <a:ext cx="5929928" cy="6508034"/>
            <a:chOff x="928073" y="154243"/>
            <a:chExt cx="5419725" cy="599491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B3C67C2-AE24-0C17-B6EB-FCC4707C5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8073" y="154243"/>
              <a:ext cx="4810125" cy="20955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883A246-8A57-4887-25A6-8A64CBC7B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8073" y="1977205"/>
              <a:ext cx="5419725" cy="4171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9609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2AF1A058-7331-9468-0FB3-E44371405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395" y="643467"/>
            <a:ext cx="5543209" cy="5571065"/>
          </a:xfrm>
          <a:prstGeom prst="rect">
            <a:avLst/>
          </a:prstGeom>
          <a:ln>
            <a:noFill/>
          </a:ln>
        </p:spPr>
      </p:pic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20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1F17B0E-E774-6A99-E300-4E8BEA727797}"/>
              </a:ext>
            </a:extLst>
          </p:cNvPr>
          <p:cNvGrpSpPr/>
          <p:nvPr/>
        </p:nvGrpSpPr>
        <p:grpSpPr>
          <a:xfrm>
            <a:off x="433134" y="192504"/>
            <a:ext cx="8293768" cy="6416842"/>
            <a:chOff x="1551321" y="657976"/>
            <a:chExt cx="5172075" cy="41807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C66EF14-DDF1-0BB8-77AD-60638C40C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1321" y="657976"/>
              <a:ext cx="4886325" cy="172402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9A66FAE-BC75-4EE3-3F35-5063A9027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51321" y="2019300"/>
              <a:ext cx="5172075" cy="2819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8609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D2661D-C711-B32B-ED1D-D0221614D820}"/>
              </a:ext>
            </a:extLst>
          </p:cNvPr>
          <p:cNvSpPr/>
          <p:nvPr/>
        </p:nvSpPr>
        <p:spPr>
          <a:xfrm>
            <a:off x="3239746" y="2967335"/>
            <a:ext cx="26645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957987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401</Words>
  <Application>Microsoft Office PowerPoint</Application>
  <PresentationFormat>On-screen Show (4:3)</PresentationFormat>
  <Paragraphs>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Meiryo</vt:lpstr>
      <vt:lpstr>Aptos</vt:lpstr>
      <vt:lpstr>Aptos Display</vt:lpstr>
      <vt:lpstr>Arial</vt:lpstr>
      <vt:lpstr>Office Theme</vt:lpstr>
      <vt:lpstr>Constructors</vt:lpstr>
      <vt:lpstr>Constructors</vt:lpstr>
      <vt:lpstr>PowerPoint Presentation</vt:lpstr>
      <vt:lpstr>PowerPoint Presentation</vt:lpstr>
      <vt:lpstr>PowerPoint Presentation</vt:lpstr>
      <vt:lpstr>Types of Constructors </vt:lpstr>
      <vt:lpstr>Default Constructors</vt:lpstr>
      <vt:lpstr>Parameterized Constructors</vt:lpstr>
      <vt:lpstr>PowerPoint Presentation</vt:lpstr>
      <vt:lpstr>The This keyword</vt:lpstr>
      <vt:lpstr>PowerPoint Presentation</vt:lpstr>
      <vt:lpstr>Method Overloading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>Dr Ashwin Bhagat</cp:lastModifiedBy>
  <cp:revision>32</cp:revision>
  <dcterms:created xsi:type="dcterms:W3CDTF">2024-09-10T15:56:10Z</dcterms:created>
  <dcterms:modified xsi:type="dcterms:W3CDTF">2024-09-17T05:31:41Z</dcterms:modified>
</cp:coreProperties>
</file>