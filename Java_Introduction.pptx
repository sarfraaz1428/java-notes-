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64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3199A9-2799-44A5-B686-0EEECA6FA563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78BD55-723C-414A-872F-87DD573776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4062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9E365-CB80-4EFA-8B77-B64BE0100810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170BA-EA5F-4D92-BE99-A5326BF0E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368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9E365-CB80-4EFA-8B77-B64BE0100810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170BA-EA5F-4D92-BE99-A5326BF0E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9490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9E365-CB80-4EFA-8B77-B64BE0100810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170BA-EA5F-4D92-BE99-A5326BF0E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8574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9E365-CB80-4EFA-8B77-B64BE0100810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170BA-EA5F-4D92-BE99-A5326BF0E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1145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9E365-CB80-4EFA-8B77-B64BE0100810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170BA-EA5F-4D92-BE99-A5326BF0E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597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9E365-CB80-4EFA-8B77-B64BE0100810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170BA-EA5F-4D92-BE99-A5326BF0E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0294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9E365-CB80-4EFA-8B77-B64BE0100810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170BA-EA5F-4D92-BE99-A5326BF0E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658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9E365-CB80-4EFA-8B77-B64BE0100810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170BA-EA5F-4D92-BE99-A5326BF0E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0374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9E365-CB80-4EFA-8B77-B64BE0100810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170BA-EA5F-4D92-BE99-A5326BF0E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3509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9E365-CB80-4EFA-8B77-B64BE0100810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170BA-EA5F-4D92-BE99-A5326BF0E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9533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9E365-CB80-4EFA-8B77-B64BE0100810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170BA-EA5F-4D92-BE99-A5326BF0E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5697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79E365-CB80-4EFA-8B77-B64BE0100810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4170BA-EA5F-4D92-BE99-A5326BF0E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0300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84E19-8A9F-2289-D6DE-38B8C7CC09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Introduction to Java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E9159F-ED9C-FF28-F750-DB65083E59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 descr="A close-up of a logo&#10;&#10;AI-generated content may be incorrect.">
            <a:extLst>
              <a:ext uri="{FF2B5EF4-FFF2-40B4-BE49-F238E27FC236}">
                <a16:creationId xmlns:a16="http://schemas.microsoft.com/office/drawing/2014/main" id="{846B78A1-82F5-916D-101F-A9AADFEE4C7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8880" y="247631"/>
            <a:ext cx="2514600" cy="874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556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15CC5-4CFC-6345-7F44-EE7B44617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Need For Java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D6F412-123E-AEB8-1972-39F339E563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 Language was invented by </a:t>
            </a:r>
            <a:r>
              <a:rPr lang="en-US" b="1" dirty="0"/>
              <a:t>Brian Kernighan</a:t>
            </a:r>
            <a:r>
              <a:rPr lang="en-US" dirty="0"/>
              <a:t> and </a:t>
            </a:r>
            <a:r>
              <a:rPr lang="en-US" b="1" dirty="0"/>
              <a:t>Dennis Ritchie</a:t>
            </a:r>
          </a:p>
          <a:p>
            <a:r>
              <a:rPr lang="en-US" dirty="0"/>
              <a:t>powerful, efficient, structured language that was relatively easy to learn</a:t>
            </a:r>
          </a:p>
          <a:p>
            <a:r>
              <a:rPr lang="en-US" dirty="0"/>
              <a:t>Problem with C Language was its inability to handle complexity (large programs)</a:t>
            </a:r>
          </a:p>
          <a:p>
            <a:r>
              <a:rPr lang="en-US" dirty="0"/>
              <a:t>C++ was invented by </a:t>
            </a:r>
            <a:r>
              <a:rPr lang="en-US" b="1" dirty="0"/>
              <a:t>Bjarne </a:t>
            </a:r>
            <a:r>
              <a:rPr lang="en-US" b="1" dirty="0" err="1"/>
              <a:t>Stroustrup</a:t>
            </a:r>
            <a:r>
              <a:rPr lang="en-US" dirty="0"/>
              <a:t> in 1979</a:t>
            </a:r>
          </a:p>
          <a:p>
            <a:r>
              <a:rPr lang="en-US" dirty="0"/>
              <a:t>The evolution of Internet and World Wide Web set the stage for Java.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3861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FE2FF-C0EC-B15D-686E-9967F2C59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814745"/>
          </a:xfrm>
        </p:spPr>
        <p:txBody>
          <a:bodyPr/>
          <a:lstStyle/>
          <a:p>
            <a:r>
              <a:rPr lang="en-US" dirty="0"/>
              <a:t>Java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A5C8-586D-94B8-EA76-E442E5686C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179871"/>
            <a:ext cx="7886700" cy="4997092"/>
          </a:xfrm>
        </p:spPr>
        <p:txBody>
          <a:bodyPr/>
          <a:lstStyle/>
          <a:p>
            <a:r>
              <a:rPr lang="en-US" dirty="0"/>
              <a:t>Java was conceived by </a:t>
            </a:r>
            <a:r>
              <a:rPr lang="en-US" b="1" dirty="0"/>
              <a:t>James Gosling, Patrick Naughton, Chris </a:t>
            </a:r>
            <a:r>
              <a:rPr lang="en-US" b="1" dirty="0" err="1"/>
              <a:t>Warth</a:t>
            </a:r>
            <a:r>
              <a:rPr lang="en-US" b="1" dirty="0"/>
              <a:t>, Ed Frank, and Mike Sheridan at Sun Microsystems, Inc.</a:t>
            </a:r>
            <a:r>
              <a:rPr lang="en-US" dirty="0"/>
              <a:t> in 1991</a:t>
            </a:r>
          </a:p>
          <a:p>
            <a:r>
              <a:rPr lang="en-US" dirty="0"/>
              <a:t>Java was initially called “</a:t>
            </a:r>
            <a:r>
              <a:rPr lang="en-US" b="1" dirty="0"/>
              <a:t>Oak</a:t>
            </a:r>
            <a:r>
              <a:rPr lang="en-US" dirty="0"/>
              <a:t>”</a:t>
            </a:r>
          </a:p>
          <a:p>
            <a:r>
              <a:rPr lang="en-US" dirty="0"/>
              <a:t>Original idea was to create a platform independent, object oriented language.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868347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A29CF-202C-54E4-79D8-4D986DF13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Buzzwords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303011-DEF3-6DEF-7F6F-DD9F93D823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Simple</a:t>
            </a:r>
          </a:p>
          <a:p>
            <a:r>
              <a:rPr lang="en-US" dirty="0"/>
              <a:t>Secure</a:t>
            </a:r>
          </a:p>
          <a:p>
            <a:r>
              <a:rPr lang="en-US" dirty="0"/>
              <a:t>Portable</a:t>
            </a:r>
          </a:p>
          <a:p>
            <a:r>
              <a:rPr lang="en-US" dirty="0"/>
              <a:t>Robust</a:t>
            </a:r>
          </a:p>
          <a:p>
            <a:r>
              <a:rPr lang="en-US" dirty="0"/>
              <a:t>Multithreading</a:t>
            </a:r>
          </a:p>
          <a:p>
            <a:r>
              <a:rPr lang="en-US" dirty="0"/>
              <a:t>Platform Independent</a:t>
            </a:r>
          </a:p>
          <a:p>
            <a:r>
              <a:rPr lang="en-US" dirty="0"/>
              <a:t>Distributed</a:t>
            </a:r>
          </a:p>
          <a:p>
            <a:r>
              <a:rPr lang="en-US" dirty="0"/>
              <a:t>Dynamic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21632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A7979-8806-A202-2C76-90784AA57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</a:t>
            </a:r>
            <a:r>
              <a:rPr lang="en-US" dirty="0" err="1"/>
              <a:t>Enviornment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3312B0-87F5-9D2A-4C2D-F718CE583C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Java environment comprises numerous development tools, classes, and methods. </a:t>
            </a:r>
          </a:p>
          <a:p>
            <a:r>
              <a:rPr lang="en-US" dirty="0"/>
              <a:t>The development tools for Java are provided as a part of the system known as Java Development Kit (JDK)</a:t>
            </a:r>
          </a:p>
          <a:p>
            <a:pPr lvl="1"/>
            <a:r>
              <a:rPr lang="en-US" dirty="0"/>
              <a:t>Java Development Kit</a:t>
            </a:r>
          </a:p>
          <a:p>
            <a:pPr lvl="1"/>
            <a:r>
              <a:rPr lang="en-US" dirty="0"/>
              <a:t>Java Platforms</a:t>
            </a:r>
          </a:p>
          <a:p>
            <a:pPr lvl="1"/>
            <a:r>
              <a:rPr lang="en-US" dirty="0"/>
              <a:t>Java Virtual Machines</a:t>
            </a:r>
          </a:p>
          <a:p>
            <a:pPr lvl="1"/>
            <a:r>
              <a:rPr lang="en-US" dirty="0"/>
              <a:t>Java API</a:t>
            </a:r>
          </a:p>
          <a:p>
            <a:pPr lvl="1"/>
            <a:r>
              <a:rPr lang="en-US" dirty="0"/>
              <a:t>Java Programs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82654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1EB27-E44B-5F9E-CD4C-13B6C440A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0"/>
            <a:ext cx="7886700" cy="681037"/>
          </a:xfrm>
        </p:spPr>
        <p:txBody>
          <a:bodyPr>
            <a:normAutofit fontScale="90000"/>
          </a:bodyPr>
          <a:lstStyle/>
          <a:p>
            <a:r>
              <a:rPr lang="en-US" dirty="0"/>
              <a:t>Java Development Kit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897166-50C7-13AB-4458-8E7192937A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663" y="681036"/>
            <a:ext cx="7886700" cy="5881995"/>
          </a:xfrm>
        </p:spPr>
        <p:txBody>
          <a:bodyPr/>
          <a:lstStyle/>
          <a:p>
            <a:r>
              <a:rPr lang="en-US" dirty="0"/>
              <a:t>Sun introduces JDK which is now an Oracle product</a:t>
            </a:r>
          </a:p>
          <a:p>
            <a:r>
              <a:rPr lang="en-US" dirty="0"/>
              <a:t>JDK provides a collection of java tools, used for developing &amp; running java programs</a:t>
            </a:r>
          </a:p>
          <a:p>
            <a:pPr lvl="1"/>
            <a:r>
              <a:rPr lang="en-US" b="1" dirty="0"/>
              <a:t>java</a:t>
            </a:r>
            <a:r>
              <a:rPr lang="en-US" dirty="0"/>
              <a:t> -Serves as a Java interpreter used to run Java applets and applications by reading and interpreting bytecode files</a:t>
            </a:r>
          </a:p>
          <a:p>
            <a:pPr lvl="1"/>
            <a:r>
              <a:rPr lang="en-US" b="1" dirty="0" err="1"/>
              <a:t>javac</a:t>
            </a:r>
            <a:r>
              <a:rPr lang="en-US" dirty="0"/>
              <a:t> -Serves as a Java compiler used to translate Java source code into bytecode files </a:t>
            </a:r>
          </a:p>
          <a:p>
            <a:pPr lvl="1"/>
            <a:r>
              <a:rPr lang="en-IN" b="1" dirty="0" err="1"/>
              <a:t>javacdoc</a:t>
            </a:r>
            <a:r>
              <a:rPr lang="en-IN" dirty="0"/>
              <a:t>—Creates </a:t>
            </a:r>
            <a:r>
              <a:rPr lang="en-IN" dirty="0" err="1"/>
              <a:t>HyperText</a:t>
            </a:r>
            <a:r>
              <a:rPr lang="en-IN" dirty="0"/>
              <a:t> Markup Language (HTML) documentation for Java source code files</a:t>
            </a:r>
          </a:p>
          <a:p>
            <a:pPr lvl="1"/>
            <a:r>
              <a:rPr lang="en-IN" b="1" dirty="0" err="1"/>
              <a:t>javap</a:t>
            </a:r>
            <a:r>
              <a:rPr lang="en-IN" dirty="0"/>
              <a:t>—Serves as a Java disassemble used to convert bytecode files into a Java program description</a:t>
            </a:r>
          </a:p>
          <a:p>
            <a:pPr lvl="1"/>
            <a:r>
              <a:rPr lang="en-US" dirty="0" err="1"/>
              <a:t>jdb</a:t>
            </a:r>
            <a:r>
              <a:rPr lang="en-US" dirty="0"/>
              <a:t>—Serves as a Java debugger used to find errors in Java program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87449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3BC86-7121-CE77-F0E2-58C1E2D49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99663"/>
            <a:ext cx="7886700" cy="711506"/>
          </a:xfrm>
        </p:spPr>
        <p:txBody>
          <a:bodyPr/>
          <a:lstStyle/>
          <a:p>
            <a:r>
              <a:rPr lang="en-US" dirty="0"/>
              <a:t>Java Development Kit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546629-89ED-1CD9-5A8F-0131C609FF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appletviewer</a:t>
            </a:r>
            <a:r>
              <a:rPr lang="en-US" dirty="0"/>
              <a:t>—Facilitates to run Java applets</a:t>
            </a:r>
          </a:p>
          <a:p>
            <a:r>
              <a:rPr lang="en-US" b="1" dirty="0"/>
              <a:t>jar</a:t>
            </a:r>
            <a:r>
              <a:rPr lang="en-US" dirty="0"/>
              <a:t>—Serves as an archive used to package related class libraries into a single executable JAR file and also helps to manage the JAR files</a:t>
            </a:r>
          </a:p>
          <a:p>
            <a:r>
              <a:rPr lang="en-US" b="1" dirty="0" err="1"/>
              <a:t>javah</a:t>
            </a:r>
            <a:r>
              <a:rPr lang="en-US" dirty="0"/>
              <a:t>—Serves as the C header and stub generator used to write native methods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72616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F2647-D45E-DB61-BE2B-510CC06D9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Editions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F3518-605F-1DDA-709D-F1DB7E1BC0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Java Standard Edition</a:t>
            </a:r>
          </a:p>
          <a:p>
            <a:r>
              <a:rPr lang="en-US" dirty="0"/>
              <a:t>Java Enterprise Edition</a:t>
            </a:r>
          </a:p>
          <a:p>
            <a:r>
              <a:rPr lang="en-US" dirty="0"/>
              <a:t>Java Micro Edition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37746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D98B8-8EEB-3476-8D55-ACCC20AD9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Virtual Machine (JVM)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DE59B-4979-55D2-9495-3C52D8546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 all programming languages, a compiler translates source code into machine code for a specific computer</a:t>
            </a:r>
          </a:p>
          <a:p>
            <a:r>
              <a:rPr lang="en-US" dirty="0"/>
              <a:t>In Java, a compiler translates the Java source code into an intermediate code known as bytecode for a virtual machine, known as JVM</a:t>
            </a:r>
          </a:p>
          <a:p>
            <a:r>
              <a:rPr lang="en-US" dirty="0"/>
              <a:t>Bytecode is the machine language for JVM and is not machine-specific</a:t>
            </a:r>
          </a:p>
          <a:p>
            <a:r>
              <a:rPr lang="en-US" dirty="0"/>
              <a:t>machine-specific code is generated by the Java interpreter, which serves as a mediator between virtual machine and real machine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04449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2499D73-9988-ACB3-131C-71D18C7CC3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831" y="3066256"/>
            <a:ext cx="9002173" cy="1325563"/>
          </a:xfr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89C60545-ADC9-DC77-E430-B58B6A9E8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/>
          <a:lstStyle/>
          <a:p>
            <a:r>
              <a:rPr lang="en-US" dirty="0"/>
              <a:t>Java Virtual Machine (JVM)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65768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B6594-8ED7-B6D4-B6A3-CA1B54CE8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Virtual Machine (JVM)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9296EF3-1FAB-5BC4-3868-A03ABE939E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4022" y="1943857"/>
            <a:ext cx="7886700" cy="4161975"/>
          </a:xfrm>
        </p:spPr>
      </p:pic>
    </p:spTree>
    <p:extLst>
      <p:ext uri="{BB962C8B-B14F-4D97-AF65-F5344CB8AC3E}">
        <p14:creationId xmlns:p14="http://schemas.microsoft.com/office/powerpoint/2010/main" val="7337156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B9112-CC51-1D70-D2A4-8E8FF39D2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API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7A574-0383-0E45-EF45-EB54A4D758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collection of classes, interfaces, and methods provided in the form of Java packages</a:t>
            </a:r>
          </a:p>
          <a:p>
            <a:r>
              <a:rPr lang="en-US" dirty="0"/>
              <a:t>provide many useful capabilities, such as Graphical User Interface (GUI), date, time, and calendar capabilities</a:t>
            </a:r>
          </a:p>
          <a:p>
            <a:r>
              <a:rPr lang="en-US" dirty="0"/>
              <a:t>categorization of Java API in the form of Java packages is as follows: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98164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F6CB2-1822-65C4-B1D2-76D2C0CB4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API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E2A6B1-F009-8ECF-0C56-52AEBE8ED6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Application Programming Packages </a:t>
            </a:r>
          </a:p>
          <a:p>
            <a:r>
              <a:rPr lang="en-US" b="1" dirty="0" err="1"/>
              <a:t>java.lang</a:t>
            </a:r>
            <a:r>
              <a:rPr lang="en-US" dirty="0"/>
              <a:t>—Provides classes that are fundamental to the design of the Java programming language </a:t>
            </a:r>
          </a:p>
          <a:p>
            <a:r>
              <a:rPr lang="en-US" b="1" dirty="0" err="1"/>
              <a:t>java.util</a:t>
            </a:r>
            <a:r>
              <a:rPr lang="en-US" dirty="0"/>
              <a:t>—Provides legacy collection classes, event model, collection framework, date and time capabilities, internationalization, and other utility classes, such as string tokenizer</a:t>
            </a:r>
          </a:p>
          <a:p>
            <a:r>
              <a:rPr lang="en-US" b="1" dirty="0"/>
              <a:t>java.io</a:t>
            </a:r>
            <a:r>
              <a:rPr lang="en-US" dirty="0"/>
              <a:t>—Provides classes for system input and output through data streams, serialization, and the file system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63017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90435-242F-6367-93CA-96560F7BA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API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4E75-A5CE-EAE4-21D3-257F99859A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Applet and Network Programming Packages </a:t>
            </a:r>
          </a:p>
          <a:p>
            <a:r>
              <a:rPr lang="en-US" b="1" dirty="0" err="1"/>
              <a:t>java.awt</a:t>
            </a:r>
            <a:r>
              <a:rPr lang="en-US" dirty="0"/>
              <a:t>—Provides classes for creating user interface and painting graphics and images</a:t>
            </a:r>
          </a:p>
          <a:p>
            <a:r>
              <a:rPr lang="en-US" b="1" dirty="0" err="1"/>
              <a:t>java.applet</a:t>
            </a:r>
            <a:r>
              <a:rPr lang="en-US" dirty="0"/>
              <a:t>—Provides classes that are necessary for creating an applet and those that are used to communicate with its applet context</a:t>
            </a:r>
          </a:p>
          <a:p>
            <a:r>
              <a:rPr lang="en-US" dirty="0"/>
              <a:t> </a:t>
            </a:r>
            <a:r>
              <a:rPr lang="en-US" b="1" dirty="0"/>
              <a:t>java.net</a:t>
            </a:r>
            <a:r>
              <a:rPr lang="en-US" dirty="0"/>
              <a:t>—Provides classes that are used for implementing networking in Java programs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9915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3BBDB28-A287-991C-EEF5-48C72F85F1E5}"/>
              </a:ext>
            </a:extLst>
          </p:cNvPr>
          <p:cNvSpPr/>
          <p:nvPr/>
        </p:nvSpPr>
        <p:spPr>
          <a:xfrm>
            <a:off x="2675617" y="2967335"/>
            <a:ext cx="379277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Thank You!!</a:t>
            </a:r>
            <a:endParaRPr lang="en-US" sz="54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075785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147</TotalTime>
  <Words>624</Words>
  <Application>Microsoft Office PowerPoint</Application>
  <PresentationFormat>On-screen Show (4:3)</PresentationFormat>
  <Paragraphs>66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Introduction to Java</vt:lpstr>
      <vt:lpstr>Need For Java</vt:lpstr>
      <vt:lpstr>Java</vt:lpstr>
      <vt:lpstr>Java Buzzwords</vt:lpstr>
      <vt:lpstr>Java Enviornment</vt:lpstr>
      <vt:lpstr>Java Development Kit</vt:lpstr>
      <vt:lpstr>Java Development Kit</vt:lpstr>
      <vt:lpstr>Java Editions</vt:lpstr>
      <vt:lpstr>Java Virtual Machine (JVM)</vt:lpstr>
      <vt:lpstr>Java Virtual Machine (JVM)</vt:lpstr>
      <vt:lpstr>Java Virtual Machine (JVM)</vt:lpstr>
      <vt:lpstr>Java API</vt:lpstr>
      <vt:lpstr>Java API</vt:lpstr>
      <vt:lpstr>Java API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 Ashwin Bhagat</dc:creator>
  <cp:lastModifiedBy>Dr Ashwin Bhagat</cp:lastModifiedBy>
  <cp:revision>45</cp:revision>
  <dcterms:created xsi:type="dcterms:W3CDTF">2024-08-12T16:19:44Z</dcterms:created>
  <dcterms:modified xsi:type="dcterms:W3CDTF">2025-08-20T05:13:41Z</dcterms:modified>
</cp:coreProperties>
</file>