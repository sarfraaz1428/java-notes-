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5" r:id="rId10"/>
    <p:sldId id="264" r:id="rId11"/>
    <p:sldId id="266" r:id="rId12"/>
    <p:sldId id="267" r:id="rId13"/>
    <p:sldId id="268" r:id="rId14"/>
    <p:sldId id="269" r:id="rId15"/>
    <p:sldId id="270" r:id="rId16"/>
    <p:sldId id="271" r:id="rId17"/>
    <p:sldId id="273" r:id="rId18"/>
    <p:sldId id="272" r:id="rId19"/>
    <p:sldId id="274" r:id="rId20"/>
    <p:sldId id="275" r:id="rId21"/>
    <p:sldId id="276" r:id="rId22"/>
    <p:sldId id="277"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64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13F4259-D93B-4650-9766-E6D25F568F31}" type="datetimeFigureOut">
              <a:rPr lang="en-IN" smtClean="0"/>
              <a:t>20-08-2025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2A5F9AE-22A6-4EC2-A6DE-D89A765E671B}" type="slidenum">
              <a:rPr lang="en-IN" smtClean="0"/>
              <a:t>‹#›</a:t>
            </a:fld>
            <a:endParaRPr lang="en-IN"/>
          </a:p>
        </p:txBody>
      </p:sp>
    </p:spTree>
    <p:extLst>
      <p:ext uri="{BB962C8B-B14F-4D97-AF65-F5344CB8AC3E}">
        <p14:creationId xmlns:p14="http://schemas.microsoft.com/office/powerpoint/2010/main" val="20779588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13F4259-D93B-4650-9766-E6D25F568F31}" type="datetimeFigureOut">
              <a:rPr lang="en-IN" smtClean="0"/>
              <a:t>20-08-2025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2A5F9AE-22A6-4EC2-A6DE-D89A765E671B}" type="slidenum">
              <a:rPr lang="en-IN" smtClean="0"/>
              <a:t>‹#›</a:t>
            </a:fld>
            <a:endParaRPr lang="en-IN"/>
          </a:p>
        </p:txBody>
      </p:sp>
    </p:spTree>
    <p:extLst>
      <p:ext uri="{BB962C8B-B14F-4D97-AF65-F5344CB8AC3E}">
        <p14:creationId xmlns:p14="http://schemas.microsoft.com/office/powerpoint/2010/main" val="27363311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13F4259-D93B-4650-9766-E6D25F568F31}" type="datetimeFigureOut">
              <a:rPr lang="en-IN" smtClean="0"/>
              <a:t>20-08-2025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2A5F9AE-22A6-4EC2-A6DE-D89A765E671B}" type="slidenum">
              <a:rPr lang="en-IN" smtClean="0"/>
              <a:t>‹#›</a:t>
            </a:fld>
            <a:endParaRPr lang="en-IN"/>
          </a:p>
        </p:txBody>
      </p:sp>
    </p:spTree>
    <p:extLst>
      <p:ext uri="{BB962C8B-B14F-4D97-AF65-F5344CB8AC3E}">
        <p14:creationId xmlns:p14="http://schemas.microsoft.com/office/powerpoint/2010/main" val="26438663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13F4259-D93B-4650-9766-E6D25F568F31}" type="datetimeFigureOut">
              <a:rPr lang="en-IN" smtClean="0"/>
              <a:t>20-08-2025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2A5F9AE-22A6-4EC2-A6DE-D89A765E671B}" type="slidenum">
              <a:rPr lang="en-IN" smtClean="0"/>
              <a:t>‹#›</a:t>
            </a:fld>
            <a:endParaRPr lang="en-IN"/>
          </a:p>
        </p:txBody>
      </p:sp>
    </p:spTree>
    <p:extLst>
      <p:ext uri="{BB962C8B-B14F-4D97-AF65-F5344CB8AC3E}">
        <p14:creationId xmlns:p14="http://schemas.microsoft.com/office/powerpoint/2010/main" val="10391498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13F4259-D93B-4650-9766-E6D25F568F31}" type="datetimeFigureOut">
              <a:rPr lang="en-IN" smtClean="0"/>
              <a:t>20-08-2025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2A5F9AE-22A6-4EC2-A6DE-D89A765E671B}" type="slidenum">
              <a:rPr lang="en-IN" smtClean="0"/>
              <a:t>‹#›</a:t>
            </a:fld>
            <a:endParaRPr lang="en-IN"/>
          </a:p>
        </p:txBody>
      </p:sp>
    </p:spTree>
    <p:extLst>
      <p:ext uri="{BB962C8B-B14F-4D97-AF65-F5344CB8AC3E}">
        <p14:creationId xmlns:p14="http://schemas.microsoft.com/office/powerpoint/2010/main" val="1110555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13F4259-D93B-4650-9766-E6D25F568F31}" type="datetimeFigureOut">
              <a:rPr lang="en-IN" smtClean="0"/>
              <a:t>20-08-2025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2A5F9AE-22A6-4EC2-A6DE-D89A765E671B}" type="slidenum">
              <a:rPr lang="en-IN" smtClean="0"/>
              <a:t>‹#›</a:t>
            </a:fld>
            <a:endParaRPr lang="en-IN"/>
          </a:p>
        </p:txBody>
      </p:sp>
    </p:spTree>
    <p:extLst>
      <p:ext uri="{BB962C8B-B14F-4D97-AF65-F5344CB8AC3E}">
        <p14:creationId xmlns:p14="http://schemas.microsoft.com/office/powerpoint/2010/main" val="35447990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13F4259-D93B-4650-9766-E6D25F568F31}" type="datetimeFigureOut">
              <a:rPr lang="en-IN" smtClean="0"/>
              <a:t>20-08-2025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2A5F9AE-22A6-4EC2-A6DE-D89A765E671B}" type="slidenum">
              <a:rPr lang="en-IN" smtClean="0"/>
              <a:t>‹#›</a:t>
            </a:fld>
            <a:endParaRPr lang="en-IN"/>
          </a:p>
        </p:txBody>
      </p:sp>
    </p:spTree>
    <p:extLst>
      <p:ext uri="{BB962C8B-B14F-4D97-AF65-F5344CB8AC3E}">
        <p14:creationId xmlns:p14="http://schemas.microsoft.com/office/powerpoint/2010/main" val="4373144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13F4259-D93B-4650-9766-E6D25F568F31}" type="datetimeFigureOut">
              <a:rPr lang="en-IN" smtClean="0"/>
              <a:t>20-08-2025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2A5F9AE-22A6-4EC2-A6DE-D89A765E671B}" type="slidenum">
              <a:rPr lang="en-IN" smtClean="0"/>
              <a:t>‹#›</a:t>
            </a:fld>
            <a:endParaRPr lang="en-IN"/>
          </a:p>
        </p:txBody>
      </p:sp>
    </p:spTree>
    <p:extLst>
      <p:ext uri="{BB962C8B-B14F-4D97-AF65-F5344CB8AC3E}">
        <p14:creationId xmlns:p14="http://schemas.microsoft.com/office/powerpoint/2010/main" val="22009765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13F4259-D93B-4650-9766-E6D25F568F31}" type="datetimeFigureOut">
              <a:rPr lang="en-IN" smtClean="0"/>
              <a:t>20-08-2025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2A5F9AE-22A6-4EC2-A6DE-D89A765E671B}" type="slidenum">
              <a:rPr lang="en-IN" smtClean="0"/>
              <a:t>‹#›</a:t>
            </a:fld>
            <a:endParaRPr lang="en-IN"/>
          </a:p>
        </p:txBody>
      </p:sp>
    </p:spTree>
    <p:extLst>
      <p:ext uri="{BB962C8B-B14F-4D97-AF65-F5344CB8AC3E}">
        <p14:creationId xmlns:p14="http://schemas.microsoft.com/office/powerpoint/2010/main" val="510382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13F4259-D93B-4650-9766-E6D25F568F31}" type="datetimeFigureOut">
              <a:rPr lang="en-IN" smtClean="0"/>
              <a:t>20-08-2025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2A5F9AE-22A6-4EC2-A6DE-D89A765E671B}" type="slidenum">
              <a:rPr lang="en-IN" smtClean="0"/>
              <a:t>‹#›</a:t>
            </a:fld>
            <a:endParaRPr lang="en-IN"/>
          </a:p>
        </p:txBody>
      </p:sp>
    </p:spTree>
    <p:extLst>
      <p:ext uri="{BB962C8B-B14F-4D97-AF65-F5344CB8AC3E}">
        <p14:creationId xmlns:p14="http://schemas.microsoft.com/office/powerpoint/2010/main" val="34997546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13F4259-D93B-4650-9766-E6D25F568F31}" type="datetimeFigureOut">
              <a:rPr lang="en-IN" smtClean="0"/>
              <a:t>20-08-2025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2A5F9AE-22A6-4EC2-A6DE-D89A765E671B}" type="slidenum">
              <a:rPr lang="en-IN" smtClean="0"/>
              <a:t>‹#›</a:t>
            </a:fld>
            <a:endParaRPr lang="en-IN"/>
          </a:p>
        </p:txBody>
      </p:sp>
    </p:spTree>
    <p:extLst>
      <p:ext uri="{BB962C8B-B14F-4D97-AF65-F5344CB8AC3E}">
        <p14:creationId xmlns:p14="http://schemas.microsoft.com/office/powerpoint/2010/main" val="30197151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13F4259-D93B-4650-9766-E6D25F568F31}" type="datetimeFigureOut">
              <a:rPr lang="en-IN" smtClean="0"/>
              <a:t>20-08-2025</a:t>
            </a:fld>
            <a:endParaRPr lang="en-I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2A5F9AE-22A6-4EC2-A6DE-D89A765E671B}" type="slidenum">
              <a:rPr lang="en-IN" smtClean="0"/>
              <a:t>‹#›</a:t>
            </a:fld>
            <a:endParaRPr lang="en-IN"/>
          </a:p>
        </p:txBody>
      </p:sp>
    </p:spTree>
    <p:extLst>
      <p:ext uri="{BB962C8B-B14F-4D97-AF65-F5344CB8AC3E}">
        <p14:creationId xmlns:p14="http://schemas.microsoft.com/office/powerpoint/2010/main" val="112653730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geeksforgeeks.org/super-keyword/" TargetMode="External"/><Relationship Id="rId2" Type="http://schemas.openxmlformats.org/officeDocument/2006/relationships/hyperlink" Target="https://www.geeksforgeeks.org/this-reference-in-java/"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www.geeksforgeeks.org/serialization-in-java/"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6975C-85B7-7341-C25B-F32CE0C085C1}"/>
              </a:ext>
            </a:extLst>
          </p:cNvPr>
          <p:cNvSpPr>
            <a:spLocks noGrp="1"/>
          </p:cNvSpPr>
          <p:nvPr>
            <p:ph type="ctrTitle"/>
          </p:nvPr>
        </p:nvSpPr>
        <p:spPr/>
        <p:txBody>
          <a:bodyPr/>
          <a:lstStyle/>
          <a:p>
            <a:r>
              <a:rPr lang="en-US" dirty="0"/>
              <a:t>Java Keywords</a:t>
            </a:r>
            <a:endParaRPr lang="en-IN" dirty="0"/>
          </a:p>
        </p:txBody>
      </p:sp>
      <p:sp>
        <p:nvSpPr>
          <p:cNvPr id="3" name="Subtitle 2">
            <a:extLst>
              <a:ext uri="{FF2B5EF4-FFF2-40B4-BE49-F238E27FC236}">
                <a16:creationId xmlns:a16="http://schemas.microsoft.com/office/drawing/2014/main" id="{126AFBA8-6EC5-B32F-68E8-AE5CE5FE313A}"/>
              </a:ext>
            </a:extLst>
          </p:cNvPr>
          <p:cNvSpPr>
            <a:spLocks noGrp="1"/>
          </p:cNvSpPr>
          <p:nvPr>
            <p:ph type="subTitle" idx="1"/>
          </p:nvPr>
        </p:nvSpPr>
        <p:spPr/>
        <p:txBody>
          <a:bodyPr/>
          <a:lstStyle/>
          <a:p>
            <a:endParaRPr lang="en-IN"/>
          </a:p>
        </p:txBody>
      </p:sp>
      <p:pic>
        <p:nvPicPr>
          <p:cNvPr id="4" name="Picture 3" descr="A close-up of a logo&#10;&#10;AI-generated content may be incorrect.">
            <a:extLst>
              <a:ext uri="{FF2B5EF4-FFF2-40B4-BE49-F238E27FC236}">
                <a16:creationId xmlns:a16="http://schemas.microsoft.com/office/drawing/2014/main" id="{076899A1-7A03-CA6D-ED24-478DE332616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355080" y="242617"/>
            <a:ext cx="2529014" cy="879746"/>
          </a:xfrm>
          <a:prstGeom prst="rect">
            <a:avLst/>
          </a:prstGeom>
        </p:spPr>
      </p:pic>
    </p:spTree>
    <p:extLst>
      <p:ext uri="{BB962C8B-B14F-4D97-AF65-F5344CB8AC3E}">
        <p14:creationId xmlns:p14="http://schemas.microsoft.com/office/powerpoint/2010/main" val="19696243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1EA83-77BC-BFFA-FD04-1D04F1C038B5}"/>
              </a:ext>
            </a:extLst>
          </p:cNvPr>
          <p:cNvSpPr>
            <a:spLocks noGrp="1"/>
          </p:cNvSpPr>
          <p:nvPr>
            <p:ph type="title"/>
          </p:nvPr>
        </p:nvSpPr>
        <p:spPr/>
        <p:txBody>
          <a:bodyPr/>
          <a:lstStyle/>
          <a:p>
            <a:r>
              <a:rPr lang="en-US" dirty="0"/>
              <a:t>Java Keywords</a:t>
            </a:r>
            <a:endParaRPr lang="en-IN" dirty="0"/>
          </a:p>
        </p:txBody>
      </p:sp>
      <p:sp>
        <p:nvSpPr>
          <p:cNvPr id="3" name="Content Placeholder 2">
            <a:extLst>
              <a:ext uri="{FF2B5EF4-FFF2-40B4-BE49-F238E27FC236}">
                <a16:creationId xmlns:a16="http://schemas.microsoft.com/office/drawing/2014/main" id="{3F685CC6-8FAC-FA84-7C78-96BE2F70428D}"/>
              </a:ext>
            </a:extLst>
          </p:cNvPr>
          <p:cNvSpPr>
            <a:spLocks noGrp="1"/>
          </p:cNvSpPr>
          <p:nvPr>
            <p:ph idx="1"/>
          </p:nvPr>
        </p:nvSpPr>
        <p:spPr/>
        <p:txBody>
          <a:bodyPr/>
          <a:lstStyle/>
          <a:p>
            <a:r>
              <a:rPr lang="en-US" dirty="0"/>
              <a:t>Static</a:t>
            </a:r>
          </a:p>
          <a:p>
            <a:r>
              <a:rPr lang="en-US" dirty="0"/>
              <a:t>Final</a:t>
            </a:r>
          </a:p>
          <a:p>
            <a:r>
              <a:rPr lang="en-US" dirty="0"/>
              <a:t>Abstract</a:t>
            </a:r>
          </a:p>
          <a:p>
            <a:r>
              <a:rPr lang="en-US" dirty="0"/>
              <a:t>Synchronized</a:t>
            </a:r>
          </a:p>
          <a:p>
            <a:r>
              <a:rPr lang="en-US" dirty="0"/>
              <a:t>Transient</a:t>
            </a:r>
          </a:p>
          <a:p>
            <a:r>
              <a:rPr lang="en-US" dirty="0"/>
              <a:t>Volatile </a:t>
            </a:r>
          </a:p>
          <a:p>
            <a:r>
              <a:rPr lang="en-US" dirty="0"/>
              <a:t>native</a:t>
            </a:r>
            <a:endParaRPr lang="en-IN" dirty="0"/>
          </a:p>
        </p:txBody>
      </p:sp>
    </p:spTree>
    <p:extLst>
      <p:ext uri="{BB962C8B-B14F-4D97-AF65-F5344CB8AC3E}">
        <p14:creationId xmlns:p14="http://schemas.microsoft.com/office/powerpoint/2010/main" val="7911281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4C59F-04BE-8664-1E48-6E8B119A62A0}"/>
              </a:ext>
            </a:extLst>
          </p:cNvPr>
          <p:cNvSpPr>
            <a:spLocks noGrp="1"/>
          </p:cNvSpPr>
          <p:nvPr>
            <p:ph type="title"/>
          </p:nvPr>
        </p:nvSpPr>
        <p:spPr/>
        <p:txBody>
          <a:bodyPr/>
          <a:lstStyle/>
          <a:p>
            <a:r>
              <a:rPr lang="en-US" dirty="0"/>
              <a:t>static keyword</a:t>
            </a:r>
            <a:endParaRPr lang="en-IN" dirty="0"/>
          </a:p>
        </p:txBody>
      </p:sp>
      <p:sp>
        <p:nvSpPr>
          <p:cNvPr id="3" name="Content Placeholder 2">
            <a:extLst>
              <a:ext uri="{FF2B5EF4-FFF2-40B4-BE49-F238E27FC236}">
                <a16:creationId xmlns:a16="http://schemas.microsoft.com/office/drawing/2014/main" id="{F1E0B132-F7E3-FDF0-43F6-CD7F756B782E}"/>
              </a:ext>
            </a:extLst>
          </p:cNvPr>
          <p:cNvSpPr>
            <a:spLocks noGrp="1"/>
          </p:cNvSpPr>
          <p:nvPr>
            <p:ph idx="1"/>
          </p:nvPr>
        </p:nvSpPr>
        <p:spPr/>
        <p:txBody>
          <a:bodyPr/>
          <a:lstStyle/>
          <a:p>
            <a:r>
              <a:rPr lang="en-US" dirty="0"/>
              <a:t>Used for memory management</a:t>
            </a:r>
          </a:p>
          <a:p>
            <a:r>
              <a:rPr lang="en-US" b="0" i="0" dirty="0">
                <a:solidFill>
                  <a:srgbClr val="273239"/>
                </a:solidFill>
                <a:effectLst/>
                <a:latin typeface="Nunito" pitchFamily="2" charset="0"/>
              </a:rPr>
              <a:t>to share the same variable or method of a given class. </a:t>
            </a:r>
          </a:p>
          <a:p>
            <a:r>
              <a:rPr lang="en-US" b="0" i="0" dirty="0">
                <a:solidFill>
                  <a:srgbClr val="273239"/>
                </a:solidFill>
                <a:effectLst/>
                <a:latin typeface="Nunito" pitchFamily="2" charset="0"/>
              </a:rPr>
              <a:t>The users can apply static keywords with variables, methods, blocks, and nested classes.</a:t>
            </a:r>
            <a:endParaRPr lang="en-US" dirty="0">
              <a:solidFill>
                <a:srgbClr val="273239"/>
              </a:solidFill>
              <a:latin typeface="Nunito" pitchFamily="2" charset="0"/>
            </a:endParaRPr>
          </a:p>
          <a:p>
            <a:r>
              <a:rPr lang="en-US" b="0" i="0" dirty="0">
                <a:solidFill>
                  <a:srgbClr val="273239"/>
                </a:solidFill>
                <a:effectLst/>
                <a:latin typeface="Nunito" pitchFamily="2" charset="0"/>
              </a:rPr>
              <a:t>used for a constant variable or a method that is the same for every instance of a class.</a:t>
            </a:r>
            <a:endParaRPr lang="en-IN" dirty="0"/>
          </a:p>
        </p:txBody>
      </p:sp>
    </p:spTree>
    <p:extLst>
      <p:ext uri="{BB962C8B-B14F-4D97-AF65-F5344CB8AC3E}">
        <p14:creationId xmlns:p14="http://schemas.microsoft.com/office/powerpoint/2010/main" val="40728766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0A9B1-4630-0A07-F63A-EDD834FA4D6C}"/>
              </a:ext>
            </a:extLst>
          </p:cNvPr>
          <p:cNvSpPr>
            <a:spLocks noGrp="1"/>
          </p:cNvSpPr>
          <p:nvPr>
            <p:ph type="title"/>
          </p:nvPr>
        </p:nvSpPr>
        <p:spPr/>
        <p:txBody>
          <a:bodyPr/>
          <a:lstStyle/>
          <a:p>
            <a:r>
              <a:rPr lang="en-US" dirty="0"/>
              <a:t>Static keyword</a:t>
            </a:r>
            <a:endParaRPr lang="en-IN" dirty="0"/>
          </a:p>
        </p:txBody>
      </p:sp>
      <p:sp>
        <p:nvSpPr>
          <p:cNvPr id="3" name="Content Placeholder 2">
            <a:extLst>
              <a:ext uri="{FF2B5EF4-FFF2-40B4-BE49-F238E27FC236}">
                <a16:creationId xmlns:a16="http://schemas.microsoft.com/office/drawing/2014/main" id="{D30BEDBB-FB57-393E-FF8B-8636E75B1B05}"/>
              </a:ext>
            </a:extLst>
          </p:cNvPr>
          <p:cNvSpPr>
            <a:spLocks noGrp="1"/>
          </p:cNvSpPr>
          <p:nvPr>
            <p:ph idx="1"/>
          </p:nvPr>
        </p:nvSpPr>
        <p:spPr/>
        <p:txBody>
          <a:bodyPr/>
          <a:lstStyle/>
          <a:p>
            <a:r>
              <a:rPr lang="en-US" dirty="0"/>
              <a:t>Static keyword can be applied to:</a:t>
            </a:r>
          </a:p>
          <a:p>
            <a:pPr lvl="1"/>
            <a:r>
              <a:rPr lang="en-US" dirty="0"/>
              <a:t>Blocks </a:t>
            </a:r>
          </a:p>
          <a:p>
            <a:pPr lvl="1"/>
            <a:r>
              <a:rPr lang="en-US" dirty="0"/>
              <a:t>Variables</a:t>
            </a:r>
          </a:p>
          <a:p>
            <a:pPr lvl="1"/>
            <a:r>
              <a:rPr lang="en-US" dirty="0"/>
              <a:t>Methods</a:t>
            </a:r>
          </a:p>
          <a:p>
            <a:pPr lvl="1"/>
            <a:r>
              <a:rPr lang="en-US" dirty="0"/>
              <a:t>Classes</a:t>
            </a:r>
            <a:endParaRPr lang="en-IN" dirty="0"/>
          </a:p>
        </p:txBody>
      </p:sp>
    </p:spTree>
    <p:extLst>
      <p:ext uri="{BB962C8B-B14F-4D97-AF65-F5344CB8AC3E}">
        <p14:creationId xmlns:p14="http://schemas.microsoft.com/office/powerpoint/2010/main" val="27097812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C18767-DA1E-273C-DA3E-6CB4D11C0657}"/>
              </a:ext>
            </a:extLst>
          </p:cNvPr>
          <p:cNvSpPr>
            <a:spLocks noGrp="1"/>
          </p:cNvSpPr>
          <p:nvPr>
            <p:ph type="title"/>
          </p:nvPr>
        </p:nvSpPr>
        <p:spPr>
          <a:xfrm>
            <a:off x="628650" y="365126"/>
            <a:ext cx="7886700" cy="755751"/>
          </a:xfrm>
        </p:spPr>
        <p:txBody>
          <a:bodyPr/>
          <a:lstStyle/>
          <a:p>
            <a:r>
              <a:rPr lang="en-US" dirty="0"/>
              <a:t>Static keyword</a:t>
            </a:r>
            <a:endParaRPr lang="en-IN" dirty="0"/>
          </a:p>
        </p:txBody>
      </p:sp>
      <p:sp>
        <p:nvSpPr>
          <p:cNvPr id="3" name="Content Placeholder 2">
            <a:extLst>
              <a:ext uri="{FF2B5EF4-FFF2-40B4-BE49-F238E27FC236}">
                <a16:creationId xmlns:a16="http://schemas.microsoft.com/office/drawing/2014/main" id="{12AB8657-582F-64B6-D788-79AE0220CC3D}"/>
              </a:ext>
            </a:extLst>
          </p:cNvPr>
          <p:cNvSpPr>
            <a:spLocks noGrp="1"/>
          </p:cNvSpPr>
          <p:nvPr>
            <p:ph idx="1"/>
          </p:nvPr>
        </p:nvSpPr>
        <p:spPr>
          <a:xfrm>
            <a:off x="628650" y="1120877"/>
            <a:ext cx="7886700" cy="5056086"/>
          </a:xfrm>
        </p:spPr>
        <p:txBody>
          <a:bodyPr>
            <a:normAutofit lnSpcReduction="10000"/>
          </a:bodyPr>
          <a:lstStyle/>
          <a:p>
            <a:r>
              <a:rPr lang="en-US" b="1" i="0" dirty="0">
                <a:solidFill>
                  <a:srgbClr val="273239"/>
                </a:solidFill>
                <a:effectLst/>
                <a:latin typeface="Nunito" pitchFamily="2" charset="0"/>
              </a:rPr>
              <a:t>Shared memory allocation</a:t>
            </a:r>
            <a:r>
              <a:rPr lang="en-US" b="0" i="0" dirty="0">
                <a:solidFill>
                  <a:srgbClr val="273239"/>
                </a:solidFill>
                <a:effectLst/>
                <a:latin typeface="Nunito" pitchFamily="2" charset="0"/>
              </a:rPr>
              <a:t>: Static variables and methods are allocated memory space only once during the execution of the program. This memory space is shared among all instances of the class, which makes static members useful for maintaining global state or shared functionality.</a:t>
            </a:r>
          </a:p>
          <a:p>
            <a:r>
              <a:rPr lang="en-US" b="1" i="0" dirty="0">
                <a:solidFill>
                  <a:srgbClr val="273239"/>
                </a:solidFill>
                <a:effectLst/>
                <a:latin typeface="Nunito" pitchFamily="2" charset="0"/>
              </a:rPr>
              <a:t>Accessible without object instantiation:</a:t>
            </a:r>
            <a:r>
              <a:rPr lang="en-US" b="0" i="0" dirty="0">
                <a:solidFill>
                  <a:srgbClr val="273239"/>
                </a:solidFill>
                <a:effectLst/>
                <a:latin typeface="Nunito" pitchFamily="2" charset="0"/>
              </a:rPr>
              <a:t> Static members can be accessed without the need to create an instance of the class. This makes them useful for providing utility functions and constants that can be used across the entire program.</a:t>
            </a:r>
          </a:p>
          <a:p>
            <a:endParaRPr lang="en-IN" dirty="0"/>
          </a:p>
        </p:txBody>
      </p:sp>
    </p:spTree>
    <p:extLst>
      <p:ext uri="{BB962C8B-B14F-4D97-AF65-F5344CB8AC3E}">
        <p14:creationId xmlns:p14="http://schemas.microsoft.com/office/powerpoint/2010/main" val="3822366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42C2AE-5D1F-0DEF-65DE-BD7A5031DC9E}"/>
              </a:ext>
            </a:extLst>
          </p:cNvPr>
          <p:cNvSpPr>
            <a:spLocks noGrp="1"/>
          </p:cNvSpPr>
          <p:nvPr>
            <p:ph idx="1"/>
          </p:nvPr>
        </p:nvSpPr>
        <p:spPr>
          <a:xfrm>
            <a:off x="628650" y="1135626"/>
            <a:ext cx="7886700" cy="5041337"/>
          </a:xfrm>
        </p:spPr>
        <p:txBody>
          <a:bodyPr>
            <a:normAutofit/>
          </a:bodyPr>
          <a:lstStyle/>
          <a:p>
            <a:r>
              <a:rPr lang="en-US" b="1" i="0" dirty="0">
                <a:solidFill>
                  <a:srgbClr val="273239"/>
                </a:solidFill>
                <a:effectLst/>
                <a:latin typeface="Nunito" pitchFamily="2" charset="0"/>
              </a:rPr>
              <a:t>Associated with class, not objects:</a:t>
            </a:r>
            <a:r>
              <a:rPr lang="en-US" b="0" i="0" dirty="0">
                <a:solidFill>
                  <a:srgbClr val="273239"/>
                </a:solidFill>
                <a:effectLst/>
                <a:latin typeface="Nunito" pitchFamily="2" charset="0"/>
              </a:rPr>
              <a:t> Static members are associated with the class, not with individual objects. This means that changes to a static member are reflected in all instances of the class, and that you can access static members using the class name rather than an object reference.</a:t>
            </a:r>
          </a:p>
          <a:p>
            <a:r>
              <a:rPr lang="en-US" b="1" i="0" dirty="0">
                <a:solidFill>
                  <a:srgbClr val="273239"/>
                </a:solidFill>
                <a:effectLst/>
                <a:latin typeface="Nunito" pitchFamily="2" charset="0"/>
              </a:rPr>
              <a:t>Cannot access non-static members:</a:t>
            </a:r>
            <a:r>
              <a:rPr lang="en-US" b="0" i="0" dirty="0">
                <a:solidFill>
                  <a:srgbClr val="273239"/>
                </a:solidFill>
                <a:effectLst/>
                <a:latin typeface="Nunito" pitchFamily="2" charset="0"/>
              </a:rPr>
              <a:t> Static methods and variables cannot access non-static members of a class, as they are not associated with any particular instance of the class.</a:t>
            </a:r>
          </a:p>
          <a:p>
            <a:endParaRPr lang="en-IN" dirty="0"/>
          </a:p>
        </p:txBody>
      </p:sp>
      <p:sp>
        <p:nvSpPr>
          <p:cNvPr id="4" name="Title 1">
            <a:extLst>
              <a:ext uri="{FF2B5EF4-FFF2-40B4-BE49-F238E27FC236}">
                <a16:creationId xmlns:a16="http://schemas.microsoft.com/office/drawing/2014/main" id="{F32E2EA5-E678-64DE-F5D1-A5CBC63B7EA0}"/>
              </a:ext>
            </a:extLst>
          </p:cNvPr>
          <p:cNvSpPr>
            <a:spLocks noGrp="1"/>
          </p:cNvSpPr>
          <p:nvPr>
            <p:ph type="title"/>
          </p:nvPr>
        </p:nvSpPr>
        <p:spPr>
          <a:xfrm>
            <a:off x="628650" y="365125"/>
            <a:ext cx="7886700" cy="770501"/>
          </a:xfrm>
        </p:spPr>
        <p:txBody>
          <a:bodyPr/>
          <a:lstStyle/>
          <a:p>
            <a:r>
              <a:rPr lang="en-US" dirty="0"/>
              <a:t>Static keyword</a:t>
            </a:r>
            <a:endParaRPr lang="en-IN" dirty="0"/>
          </a:p>
        </p:txBody>
      </p:sp>
    </p:spTree>
    <p:extLst>
      <p:ext uri="{BB962C8B-B14F-4D97-AF65-F5344CB8AC3E}">
        <p14:creationId xmlns:p14="http://schemas.microsoft.com/office/powerpoint/2010/main" val="35272578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7B7D880B-8F18-CD84-D217-909A27C40BE1}"/>
              </a:ext>
            </a:extLst>
          </p:cNvPr>
          <p:cNvPicPr>
            <a:picLocks noGrp="1" noChangeAspect="1"/>
          </p:cNvPicPr>
          <p:nvPr>
            <p:ph idx="1"/>
          </p:nvPr>
        </p:nvPicPr>
        <p:blipFill>
          <a:blip r:embed="rId2"/>
          <a:stretch>
            <a:fillRect/>
          </a:stretch>
        </p:blipFill>
        <p:spPr>
          <a:xfrm>
            <a:off x="425858" y="50179"/>
            <a:ext cx="8231446" cy="6789184"/>
          </a:xfrm>
        </p:spPr>
      </p:pic>
    </p:spTree>
    <p:extLst>
      <p:ext uri="{BB962C8B-B14F-4D97-AF65-F5344CB8AC3E}">
        <p14:creationId xmlns:p14="http://schemas.microsoft.com/office/powerpoint/2010/main" val="4334209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3580F-6746-83D3-0795-1A42A5B5CE1E}"/>
              </a:ext>
            </a:extLst>
          </p:cNvPr>
          <p:cNvSpPr>
            <a:spLocks noGrp="1"/>
          </p:cNvSpPr>
          <p:nvPr>
            <p:ph type="title"/>
          </p:nvPr>
        </p:nvSpPr>
        <p:spPr>
          <a:xfrm>
            <a:off x="628650" y="365126"/>
            <a:ext cx="7886700" cy="726255"/>
          </a:xfrm>
        </p:spPr>
        <p:txBody>
          <a:bodyPr/>
          <a:lstStyle/>
          <a:p>
            <a:r>
              <a:rPr lang="en-US" dirty="0"/>
              <a:t>Static variables and Members</a:t>
            </a:r>
            <a:endParaRPr lang="en-IN" dirty="0"/>
          </a:p>
        </p:txBody>
      </p:sp>
      <p:sp>
        <p:nvSpPr>
          <p:cNvPr id="3" name="Content Placeholder 2">
            <a:extLst>
              <a:ext uri="{FF2B5EF4-FFF2-40B4-BE49-F238E27FC236}">
                <a16:creationId xmlns:a16="http://schemas.microsoft.com/office/drawing/2014/main" id="{29DF750F-4DEB-1FF7-FDA6-1B04759DEDC0}"/>
              </a:ext>
            </a:extLst>
          </p:cNvPr>
          <p:cNvSpPr>
            <a:spLocks noGrp="1"/>
          </p:cNvSpPr>
          <p:nvPr>
            <p:ph idx="1"/>
          </p:nvPr>
        </p:nvSpPr>
        <p:spPr>
          <a:xfrm>
            <a:off x="628650" y="1091381"/>
            <a:ext cx="7886700" cy="5085582"/>
          </a:xfrm>
        </p:spPr>
        <p:txBody>
          <a:bodyPr>
            <a:normAutofit fontScale="92500" lnSpcReduction="10000"/>
          </a:bodyPr>
          <a:lstStyle/>
          <a:p>
            <a:r>
              <a:rPr lang="en-US" b="0" i="0" dirty="0">
                <a:solidFill>
                  <a:srgbClr val="273239"/>
                </a:solidFill>
                <a:effectLst/>
                <a:latin typeface="Nunito" pitchFamily="2" charset="0"/>
              </a:rPr>
              <a:t>When a variable is declared as static, then a single copy of the variable is created and shared among all objects at the class level. Static variables are, essentially, global variables. All instances of the class share the same static variable.</a:t>
            </a:r>
          </a:p>
          <a:p>
            <a:r>
              <a:rPr lang="en-US" b="0" i="0" dirty="0">
                <a:solidFill>
                  <a:srgbClr val="273239"/>
                </a:solidFill>
                <a:effectLst/>
                <a:latin typeface="Nunito" pitchFamily="2" charset="0"/>
              </a:rPr>
              <a:t>When a method is declared with the </a:t>
            </a:r>
            <a:r>
              <a:rPr lang="en-US" b="0" i="1" dirty="0">
                <a:solidFill>
                  <a:srgbClr val="273239"/>
                </a:solidFill>
                <a:effectLst/>
                <a:latin typeface="Nunito" pitchFamily="2" charset="0"/>
              </a:rPr>
              <a:t>static</a:t>
            </a:r>
            <a:r>
              <a:rPr lang="en-US" b="0" i="0" dirty="0">
                <a:solidFill>
                  <a:srgbClr val="273239"/>
                </a:solidFill>
                <a:effectLst/>
                <a:latin typeface="Nunito" pitchFamily="2" charset="0"/>
              </a:rPr>
              <a:t> keyword, it is known as the static method. The most common example of a static method is the </a:t>
            </a:r>
            <a:r>
              <a:rPr lang="en-US" b="0" i="1" dirty="0">
                <a:solidFill>
                  <a:srgbClr val="273239"/>
                </a:solidFill>
                <a:effectLst/>
                <a:latin typeface="Nunito" pitchFamily="2" charset="0"/>
              </a:rPr>
              <a:t>main( )</a:t>
            </a:r>
            <a:r>
              <a:rPr lang="en-US" b="0" i="0" dirty="0">
                <a:solidFill>
                  <a:srgbClr val="273239"/>
                </a:solidFill>
                <a:effectLst/>
                <a:latin typeface="Nunito" pitchFamily="2" charset="0"/>
              </a:rPr>
              <a:t> method. Any static member can be accessed before any objects of its class are created, and without reference to any object. Methods declared as static have several restrictions: </a:t>
            </a:r>
            <a:endParaRPr lang="en-IN" dirty="0"/>
          </a:p>
        </p:txBody>
      </p:sp>
    </p:spTree>
    <p:extLst>
      <p:ext uri="{BB962C8B-B14F-4D97-AF65-F5344CB8AC3E}">
        <p14:creationId xmlns:p14="http://schemas.microsoft.com/office/powerpoint/2010/main" val="7620031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EDFCC1-D508-22FB-174C-0495B72D5E3B}"/>
              </a:ext>
            </a:extLst>
          </p:cNvPr>
          <p:cNvSpPr>
            <a:spLocks noGrp="1"/>
          </p:cNvSpPr>
          <p:nvPr>
            <p:ph type="title"/>
          </p:nvPr>
        </p:nvSpPr>
        <p:spPr/>
        <p:txBody>
          <a:bodyPr/>
          <a:lstStyle/>
          <a:p>
            <a:r>
              <a:rPr lang="en-US" dirty="0"/>
              <a:t>Static methods restrictions</a:t>
            </a:r>
            <a:endParaRPr lang="en-IN" dirty="0"/>
          </a:p>
        </p:txBody>
      </p:sp>
      <p:sp>
        <p:nvSpPr>
          <p:cNvPr id="3" name="Content Placeholder 2">
            <a:extLst>
              <a:ext uri="{FF2B5EF4-FFF2-40B4-BE49-F238E27FC236}">
                <a16:creationId xmlns:a16="http://schemas.microsoft.com/office/drawing/2014/main" id="{876059BD-7BC8-6B6A-B0BA-D70B86D07371}"/>
              </a:ext>
            </a:extLst>
          </p:cNvPr>
          <p:cNvSpPr>
            <a:spLocks noGrp="1"/>
          </p:cNvSpPr>
          <p:nvPr>
            <p:ph idx="1"/>
          </p:nvPr>
        </p:nvSpPr>
        <p:spPr/>
        <p:txBody>
          <a:bodyPr/>
          <a:lstStyle/>
          <a:p>
            <a:pPr algn="l" fontAlgn="base">
              <a:buFont typeface="Arial" panose="020B0604020202020204" pitchFamily="34" charset="0"/>
              <a:buChar char="•"/>
            </a:pPr>
            <a:r>
              <a:rPr lang="en-US" b="0" i="0" dirty="0">
                <a:solidFill>
                  <a:srgbClr val="273239"/>
                </a:solidFill>
                <a:effectLst/>
                <a:latin typeface="Nunito" pitchFamily="2" charset="0"/>
              </a:rPr>
              <a:t>They can only directly call other static methods.</a:t>
            </a:r>
          </a:p>
          <a:p>
            <a:pPr algn="l" fontAlgn="base">
              <a:buFont typeface="Arial" panose="020B0604020202020204" pitchFamily="34" charset="0"/>
              <a:buChar char="•"/>
            </a:pPr>
            <a:r>
              <a:rPr lang="en-US" b="0" i="0" dirty="0">
                <a:solidFill>
                  <a:srgbClr val="273239"/>
                </a:solidFill>
                <a:effectLst/>
                <a:latin typeface="Nunito" pitchFamily="2" charset="0"/>
              </a:rPr>
              <a:t>They can only directly access static data.</a:t>
            </a:r>
          </a:p>
          <a:p>
            <a:pPr algn="l" fontAlgn="base">
              <a:buFont typeface="Arial" panose="020B0604020202020204" pitchFamily="34" charset="0"/>
              <a:buChar char="•"/>
            </a:pPr>
            <a:r>
              <a:rPr lang="en-US" b="0" i="0" dirty="0">
                <a:solidFill>
                  <a:srgbClr val="273239"/>
                </a:solidFill>
                <a:effectLst/>
                <a:latin typeface="Nunito" pitchFamily="2" charset="0"/>
              </a:rPr>
              <a:t>They cannot refer to </a:t>
            </a:r>
            <a:r>
              <a:rPr lang="en-US" b="0" i="0" u="sng" dirty="0">
                <a:solidFill>
                  <a:srgbClr val="273239"/>
                </a:solidFill>
                <a:effectLst/>
                <a:latin typeface="Nunito" pitchFamily="2" charset="0"/>
                <a:hlinkClick r:id="rId2"/>
              </a:rPr>
              <a:t>this</a:t>
            </a:r>
            <a:r>
              <a:rPr lang="en-US" b="0" i="0" dirty="0">
                <a:solidFill>
                  <a:srgbClr val="273239"/>
                </a:solidFill>
                <a:effectLst/>
                <a:latin typeface="Nunito" pitchFamily="2" charset="0"/>
              </a:rPr>
              <a:t> or </a:t>
            </a:r>
            <a:r>
              <a:rPr lang="en-US" b="0" i="0" u="sng" dirty="0">
                <a:solidFill>
                  <a:srgbClr val="273239"/>
                </a:solidFill>
                <a:effectLst/>
                <a:latin typeface="Nunito" pitchFamily="2" charset="0"/>
                <a:hlinkClick r:id="rId3"/>
              </a:rPr>
              <a:t>super</a:t>
            </a:r>
            <a:r>
              <a:rPr lang="en-US" b="0" i="0" dirty="0">
                <a:solidFill>
                  <a:srgbClr val="273239"/>
                </a:solidFill>
                <a:effectLst/>
                <a:latin typeface="Nunito" pitchFamily="2" charset="0"/>
              </a:rPr>
              <a:t> in any way.</a:t>
            </a:r>
          </a:p>
          <a:p>
            <a:endParaRPr lang="en-IN" dirty="0"/>
          </a:p>
        </p:txBody>
      </p:sp>
    </p:spTree>
    <p:extLst>
      <p:ext uri="{BB962C8B-B14F-4D97-AF65-F5344CB8AC3E}">
        <p14:creationId xmlns:p14="http://schemas.microsoft.com/office/powerpoint/2010/main" val="25143847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5B626BA-EF83-64F6-A107-EAE31F54F66D}"/>
              </a:ext>
            </a:extLst>
          </p:cNvPr>
          <p:cNvPicPr>
            <a:picLocks noChangeAspect="1"/>
          </p:cNvPicPr>
          <p:nvPr/>
        </p:nvPicPr>
        <p:blipFill>
          <a:blip r:embed="rId2"/>
          <a:stretch>
            <a:fillRect/>
          </a:stretch>
        </p:blipFill>
        <p:spPr>
          <a:xfrm>
            <a:off x="855406" y="0"/>
            <a:ext cx="7418439" cy="6812062"/>
          </a:xfrm>
          <a:prstGeom prst="rect">
            <a:avLst/>
          </a:prstGeom>
        </p:spPr>
      </p:pic>
    </p:spTree>
    <p:extLst>
      <p:ext uri="{BB962C8B-B14F-4D97-AF65-F5344CB8AC3E}">
        <p14:creationId xmlns:p14="http://schemas.microsoft.com/office/powerpoint/2010/main" val="37838450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DEC74-A8E7-14F3-8100-4114C5E65246}"/>
              </a:ext>
            </a:extLst>
          </p:cNvPr>
          <p:cNvSpPr>
            <a:spLocks noGrp="1"/>
          </p:cNvSpPr>
          <p:nvPr>
            <p:ph type="title"/>
          </p:nvPr>
        </p:nvSpPr>
        <p:spPr/>
        <p:txBody>
          <a:bodyPr/>
          <a:lstStyle/>
          <a:p>
            <a:r>
              <a:rPr lang="en-US" dirty="0"/>
              <a:t>The final keyword</a:t>
            </a:r>
            <a:endParaRPr lang="en-IN" dirty="0"/>
          </a:p>
        </p:txBody>
      </p:sp>
      <p:sp>
        <p:nvSpPr>
          <p:cNvPr id="3" name="Content Placeholder 2">
            <a:extLst>
              <a:ext uri="{FF2B5EF4-FFF2-40B4-BE49-F238E27FC236}">
                <a16:creationId xmlns:a16="http://schemas.microsoft.com/office/drawing/2014/main" id="{9CC4E0B2-E433-5A15-7582-284BC1FF0007}"/>
              </a:ext>
            </a:extLst>
          </p:cNvPr>
          <p:cNvSpPr>
            <a:spLocks noGrp="1"/>
          </p:cNvSpPr>
          <p:nvPr>
            <p:ph idx="1"/>
          </p:nvPr>
        </p:nvSpPr>
        <p:spPr>
          <a:xfrm>
            <a:off x="628650" y="1563329"/>
            <a:ext cx="7886700" cy="4613634"/>
          </a:xfrm>
        </p:spPr>
        <p:txBody>
          <a:bodyPr/>
          <a:lstStyle/>
          <a:p>
            <a:pPr algn="just" rtl="0" fontAlgn="base"/>
            <a:r>
              <a:rPr lang="en-US" b="0" i="0" dirty="0">
                <a:solidFill>
                  <a:srgbClr val="273239"/>
                </a:solidFill>
                <a:effectLst/>
                <a:latin typeface="Nunito" pitchFamily="2" charset="0"/>
              </a:rPr>
              <a:t>The </a:t>
            </a:r>
            <a:r>
              <a:rPr lang="en-US" b="1" i="0" dirty="0">
                <a:solidFill>
                  <a:srgbClr val="273239"/>
                </a:solidFill>
                <a:effectLst/>
                <a:latin typeface="Nunito" pitchFamily="2" charset="0"/>
              </a:rPr>
              <a:t>final method</a:t>
            </a:r>
            <a:r>
              <a:rPr lang="en-US" b="0" i="0" dirty="0">
                <a:solidFill>
                  <a:srgbClr val="273239"/>
                </a:solidFill>
                <a:effectLst/>
                <a:latin typeface="Nunito" pitchFamily="2" charset="0"/>
              </a:rPr>
              <a:t> in Java is used as a </a:t>
            </a:r>
            <a:r>
              <a:rPr lang="en-US" b="1" i="0" dirty="0">
                <a:solidFill>
                  <a:srgbClr val="273239"/>
                </a:solidFill>
                <a:effectLst/>
                <a:latin typeface="Nunito" pitchFamily="2" charset="0"/>
              </a:rPr>
              <a:t>non-access modifier</a:t>
            </a:r>
            <a:r>
              <a:rPr lang="en-US" b="0" i="0" dirty="0">
                <a:solidFill>
                  <a:srgbClr val="273239"/>
                </a:solidFill>
                <a:effectLst/>
                <a:latin typeface="Nunito" pitchFamily="2" charset="0"/>
              </a:rPr>
              <a:t> applicable only to a </a:t>
            </a:r>
            <a:r>
              <a:rPr lang="en-US" b="1" i="0" dirty="0">
                <a:solidFill>
                  <a:srgbClr val="273239"/>
                </a:solidFill>
                <a:effectLst/>
                <a:latin typeface="Nunito" pitchFamily="2" charset="0"/>
              </a:rPr>
              <a:t>variable</a:t>
            </a:r>
            <a:r>
              <a:rPr lang="en-US" b="0" i="0" dirty="0">
                <a:solidFill>
                  <a:srgbClr val="273239"/>
                </a:solidFill>
                <a:effectLst/>
                <a:latin typeface="Nunito" pitchFamily="2" charset="0"/>
              </a:rPr>
              <a:t>, a </a:t>
            </a:r>
            <a:r>
              <a:rPr lang="en-US" b="1" i="0" dirty="0">
                <a:solidFill>
                  <a:srgbClr val="273239"/>
                </a:solidFill>
                <a:effectLst/>
                <a:latin typeface="Nunito" pitchFamily="2" charset="0"/>
              </a:rPr>
              <a:t>method</a:t>
            </a:r>
            <a:r>
              <a:rPr lang="en-US" b="0" i="0" dirty="0">
                <a:solidFill>
                  <a:srgbClr val="273239"/>
                </a:solidFill>
                <a:effectLst/>
                <a:latin typeface="Nunito" pitchFamily="2" charset="0"/>
              </a:rPr>
              <a:t>, or a </a:t>
            </a:r>
            <a:r>
              <a:rPr lang="en-US" b="1" i="0" dirty="0">
                <a:solidFill>
                  <a:srgbClr val="273239"/>
                </a:solidFill>
                <a:effectLst/>
                <a:latin typeface="Nunito" pitchFamily="2" charset="0"/>
              </a:rPr>
              <a:t>class. </a:t>
            </a:r>
            <a:r>
              <a:rPr lang="en-US" b="0" i="0" dirty="0">
                <a:solidFill>
                  <a:srgbClr val="273239"/>
                </a:solidFill>
                <a:effectLst/>
                <a:latin typeface="Nunito" pitchFamily="2" charset="0"/>
              </a:rPr>
              <a:t>It is used to</a:t>
            </a:r>
            <a:r>
              <a:rPr lang="en-US" b="1" i="0" dirty="0">
                <a:solidFill>
                  <a:srgbClr val="273239"/>
                </a:solidFill>
                <a:effectLst/>
                <a:latin typeface="Nunito" pitchFamily="2" charset="0"/>
              </a:rPr>
              <a:t> restrict a user</a:t>
            </a:r>
            <a:r>
              <a:rPr lang="en-US" b="0" i="0" dirty="0">
                <a:solidFill>
                  <a:srgbClr val="273239"/>
                </a:solidFill>
                <a:effectLst/>
                <a:latin typeface="Nunito" pitchFamily="2" charset="0"/>
              </a:rPr>
              <a:t> in Java</a:t>
            </a:r>
            <a:r>
              <a:rPr lang="en-US" b="1" i="0" dirty="0">
                <a:solidFill>
                  <a:srgbClr val="273239"/>
                </a:solidFill>
                <a:effectLst/>
                <a:latin typeface="Nunito" pitchFamily="2" charset="0"/>
              </a:rPr>
              <a:t>.</a:t>
            </a:r>
            <a:endParaRPr lang="en-US" b="0" i="0" dirty="0">
              <a:solidFill>
                <a:srgbClr val="273239"/>
              </a:solidFill>
              <a:effectLst/>
              <a:latin typeface="Nunito" pitchFamily="2" charset="0"/>
            </a:endParaRPr>
          </a:p>
          <a:p>
            <a:pPr algn="just" rtl="0" fontAlgn="base"/>
            <a:r>
              <a:rPr lang="en-US" b="0" i="0" dirty="0">
                <a:solidFill>
                  <a:srgbClr val="273239"/>
                </a:solidFill>
                <a:effectLst/>
                <a:latin typeface="Nunito" pitchFamily="2" charset="0"/>
              </a:rPr>
              <a:t>The following are</a:t>
            </a:r>
            <a:r>
              <a:rPr lang="en-US" b="1" i="0" dirty="0">
                <a:solidFill>
                  <a:srgbClr val="273239"/>
                </a:solidFill>
                <a:effectLst/>
                <a:latin typeface="Nunito" pitchFamily="2" charset="0"/>
              </a:rPr>
              <a:t> different contexts</a:t>
            </a:r>
            <a:r>
              <a:rPr lang="en-US" b="0" i="0" dirty="0">
                <a:solidFill>
                  <a:srgbClr val="273239"/>
                </a:solidFill>
                <a:effectLst/>
                <a:latin typeface="Nunito" pitchFamily="2" charset="0"/>
              </a:rPr>
              <a:t> where the final is used:</a:t>
            </a:r>
          </a:p>
          <a:p>
            <a:pPr algn="l" fontAlgn="base">
              <a:buFont typeface="+mj-lt"/>
              <a:buAutoNum type="arabicPeriod"/>
            </a:pPr>
            <a:r>
              <a:rPr lang="en-US" b="0" i="0" dirty="0">
                <a:solidFill>
                  <a:srgbClr val="273239"/>
                </a:solidFill>
                <a:effectLst/>
                <a:latin typeface="Nunito" pitchFamily="2" charset="0"/>
              </a:rPr>
              <a:t>Variable</a:t>
            </a:r>
          </a:p>
          <a:p>
            <a:pPr algn="l" fontAlgn="base">
              <a:buFont typeface="+mj-lt"/>
              <a:buAutoNum type="arabicPeriod" startAt="2"/>
            </a:pPr>
            <a:r>
              <a:rPr lang="en-US" b="0" i="0" dirty="0">
                <a:solidFill>
                  <a:srgbClr val="273239"/>
                </a:solidFill>
                <a:effectLst/>
                <a:latin typeface="Nunito" pitchFamily="2" charset="0"/>
              </a:rPr>
              <a:t>Method</a:t>
            </a:r>
          </a:p>
          <a:p>
            <a:pPr algn="l" fontAlgn="base">
              <a:buFont typeface="+mj-lt"/>
              <a:buAutoNum type="arabicPeriod" startAt="3"/>
            </a:pPr>
            <a:r>
              <a:rPr lang="en-US" b="0" i="0" dirty="0">
                <a:solidFill>
                  <a:srgbClr val="273239"/>
                </a:solidFill>
                <a:effectLst/>
                <a:latin typeface="Nunito" pitchFamily="2" charset="0"/>
              </a:rPr>
              <a:t>Class</a:t>
            </a:r>
          </a:p>
          <a:p>
            <a:endParaRPr lang="en-IN" dirty="0"/>
          </a:p>
        </p:txBody>
      </p:sp>
    </p:spTree>
    <p:extLst>
      <p:ext uri="{BB962C8B-B14F-4D97-AF65-F5344CB8AC3E}">
        <p14:creationId xmlns:p14="http://schemas.microsoft.com/office/powerpoint/2010/main" val="35634182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32EF32A-A329-4206-9C91-E492362240ED}"/>
              </a:ext>
            </a:extLst>
          </p:cNvPr>
          <p:cNvSpPr>
            <a:spLocks noGrp="1"/>
          </p:cNvSpPr>
          <p:nvPr>
            <p:ph type="title"/>
          </p:nvPr>
        </p:nvSpPr>
        <p:spPr/>
        <p:txBody>
          <a:bodyPr/>
          <a:lstStyle/>
          <a:p>
            <a:r>
              <a:rPr lang="en-US" dirty="0"/>
              <a:t>Final keyword</a:t>
            </a:r>
            <a:endParaRPr lang="en-IN" dirty="0"/>
          </a:p>
        </p:txBody>
      </p:sp>
      <p:pic>
        <p:nvPicPr>
          <p:cNvPr id="7" name="Content Placeholder 6">
            <a:extLst>
              <a:ext uri="{FF2B5EF4-FFF2-40B4-BE49-F238E27FC236}">
                <a16:creationId xmlns:a16="http://schemas.microsoft.com/office/drawing/2014/main" id="{767EF370-31AE-C70C-752D-D17170CED714}"/>
              </a:ext>
            </a:extLst>
          </p:cNvPr>
          <p:cNvPicPr>
            <a:picLocks noGrp="1" noChangeAspect="1"/>
          </p:cNvPicPr>
          <p:nvPr>
            <p:ph idx="1"/>
          </p:nvPr>
        </p:nvPicPr>
        <p:blipFill>
          <a:blip r:embed="rId2"/>
          <a:stretch>
            <a:fillRect/>
          </a:stretch>
        </p:blipFill>
        <p:spPr>
          <a:xfrm>
            <a:off x="510509" y="2509837"/>
            <a:ext cx="8064532" cy="2725840"/>
          </a:xfrm>
        </p:spPr>
      </p:pic>
    </p:spTree>
    <p:extLst>
      <p:ext uri="{BB962C8B-B14F-4D97-AF65-F5344CB8AC3E}">
        <p14:creationId xmlns:p14="http://schemas.microsoft.com/office/powerpoint/2010/main" val="14037826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B2F8B-1EE8-51ED-0C56-11B1E56D47A6}"/>
              </a:ext>
            </a:extLst>
          </p:cNvPr>
          <p:cNvSpPr>
            <a:spLocks noGrp="1"/>
          </p:cNvSpPr>
          <p:nvPr>
            <p:ph type="title"/>
          </p:nvPr>
        </p:nvSpPr>
        <p:spPr>
          <a:xfrm>
            <a:off x="628650" y="365127"/>
            <a:ext cx="7886700" cy="637764"/>
          </a:xfrm>
        </p:spPr>
        <p:txBody>
          <a:bodyPr>
            <a:normAutofit fontScale="90000"/>
          </a:bodyPr>
          <a:lstStyle/>
          <a:p>
            <a:r>
              <a:rPr lang="en-US" dirty="0"/>
              <a:t>Characteristics of final keyword</a:t>
            </a:r>
            <a:endParaRPr lang="en-IN" dirty="0"/>
          </a:p>
        </p:txBody>
      </p:sp>
      <p:sp>
        <p:nvSpPr>
          <p:cNvPr id="3" name="Content Placeholder 2">
            <a:extLst>
              <a:ext uri="{FF2B5EF4-FFF2-40B4-BE49-F238E27FC236}">
                <a16:creationId xmlns:a16="http://schemas.microsoft.com/office/drawing/2014/main" id="{4A056CA2-05C3-2743-14F7-70A39A0A6E84}"/>
              </a:ext>
            </a:extLst>
          </p:cNvPr>
          <p:cNvSpPr>
            <a:spLocks noGrp="1"/>
          </p:cNvSpPr>
          <p:nvPr>
            <p:ph idx="1"/>
          </p:nvPr>
        </p:nvSpPr>
        <p:spPr>
          <a:xfrm>
            <a:off x="628650" y="1002891"/>
            <a:ext cx="7886700" cy="5174072"/>
          </a:xfrm>
        </p:spPr>
        <p:txBody>
          <a:bodyPr>
            <a:normAutofit lnSpcReduction="10000"/>
          </a:bodyPr>
          <a:lstStyle/>
          <a:p>
            <a:r>
              <a:rPr lang="en-US" b="0" i="0" dirty="0">
                <a:solidFill>
                  <a:srgbClr val="273239"/>
                </a:solidFill>
                <a:effectLst/>
                <a:latin typeface="Nunito" pitchFamily="2" charset="0"/>
              </a:rPr>
              <a:t>the final keyword in java is used to indicate that a variable, method, or class cannot be modified or extended. Here are some of its characteristics:</a:t>
            </a:r>
          </a:p>
          <a:p>
            <a:r>
              <a:rPr lang="en-US" b="1" i="0" dirty="0">
                <a:solidFill>
                  <a:srgbClr val="273239"/>
                </a:solidFill>
                <a:effectLst/>
                <a:latin typeface="Nunito" pitchFamily="2" charset="0"/>
              </a:rPr>
              <a:t>Final variables:</a:t>
            </a:r>
            <a:r>
              <a:rPr lang="en-US" b="0" i="0" dirty="0">
                <a:solidFill>
                  <a:srgbClr val="273239"/>
                </a:solidFill>
                <a:effectLst/>
                <a:latin typeface="Nunito" pitchFamily="2" charset="0"/>
              </a:rPr>
              <a:t> When a variable is declared as final, its value cannot be changed once it has been initialized. This is useful for declaring constants or other values that should not be modified.</a:t>
            </a:r>
          </a:p>
          <a:p>
            <a:r>
              <a:rPr lang="en-US" b="1" i="0" dirty="0">
                <a:solidFill>
                  <a:srgbClr val="273239"/>
                </a:solidFill>
                <a:effectLst/>
                <a:latin typeface="Nunito" pitchFamily="2" charset="0"/>
              </a:rPr>
              <a:t>Final methods</a:t>
            </a:r>
            <a:r>
              <a:rPr lang="en-US" b="0" i="0" dirty="0">
                <a:solidFill>
                  <a:srgbClr val="273239"/>
                </a:solidFill>
                <a:effectLst/>
                <a:latin typeface="Nunito" pitchFamily="2" charset="0"/>
              </a:rPr>
              <a:t>: When a method is declared as final, it cannot be overridden by a subclass. This is useful for methods that are part of a class’s public API and should not be modified by subclasses.</a:t>
            </a:r>
          </a:p>
          <a:p>
            <a:endParaRPr lang="en-IN" dirty="0"/>
          </a:p>
        </p:txBody>
      </p:sp>
    </p:spTree>
    <p:extLst>
      <p:ext uri="{BB962C8B-B14F-4D97-AF65-F5344CB8AC3E}">
        <p14:creationId xmlns:p14="http://schemas.microsoft.com/office/powerpoint/2010/main" val="18214213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09462-5FAF-C43B-9B16-D98758EC98C0}"/>
              </a:ext>
            </a:extLst>
          </p:cNvPr>
          <p:cNvSpPr>
            <a:spLocks noGrp="1"/>
          </p:cNvSpPr>
          <p:nvPr>
            <p:ph type="title"/>
          </p:nvPr>
        </p:nvSpPr>
        <p:spPr/>
        <p:txBody>
          <a:bodyPr/>
          <a:lstStyle/>
          <a:p>
            <a:r>
              <a:rPr lang="en-US" dirty="0"/>
              <a:t>Final keyword</a:t>
            </a:r>
            <a:endParaRPr lang="en-IN" dirty="0"/>
          </a:p>
        </p:txBody>
      </p:sp>
      <p:sp>
        <p:nvSpPr>
          <p:cNvPr id="3" name="Content Placeholder 2">
            <a:extLst>
              <a:ext uri="{FF2B5EF4-FFF2-40B4-BE49-F238E27FC236}">
                <a16:creationId xmlns:a16="http://schemas.microsoft.com/office/drawing/2014/main" id="{F582BC69-FEAC-5293-E404-C1C3D4307D7C}"/>
              </a:ext>
            </a:extLst>
          </p:cNvPr>
          <p:cNvSpPr>
            <a:spLocks noGrp="1"/>
          </p:cNvSpPr>
          <p:nvPr>
            <p:ph idx="1"/>
          </p:nvPr>
        </p:nvSpPr>
        <p:spPr/>
        <p:txBody>
          <a:bodyPr/>
          <a:lstStyle/>
          <a:p>
            <a:r>
              <a:rPr lang="en-US" b="1" i="0" dirty="0">
                <a:solidFill>
                  <a:srgbClr val="273239"/>
                </a:solidFill>
                <a:effectLst/>
                <a:latin typeface="Nunito" pitchFamily="2" charset="0"/>
              </a:rPr>
              <a:t>Final classes:</a:t>
            </a:r>
            <a:r>
              <a:rPr lang="en-US" b="0" i="0" dirty="0">
                <a:solidFill>
                  <a:srgbClr val="273239"/>
                </a:solidFill>
                <a:effectLst/>
                <a:latin typeface="Nunito" pitchFamily="2" charset="0"/>
              </a:rPr>
              <a:t> When a class is declared as final, it cannot be extended by a subclass. This is useful for classes that are intended to be used as is and should not be modified or extended.</a:t>
            </a:r>
          </a:p>
          <a:p>
            <a:r>
              <a:rPr lang="en-US" b="1" i="0" dirty="0">
                <a:solidFill>
                  <a:srgbClr val="273239"/>
                </a:solidFill>
                <a:effectLst/>
                <a:latin typeface="Nunito" pitchFamily="2" charset="0"/>
              </a:rPr>
              <a:t>Initialization:</a:t>
            </a:r>
            <a:r>
              <a:rPr lang="en-US" b="0" i="0" dirty="0">
                <a:solidFill>
                  <a:srgbClr val="273239"/>
                </a:solidFill>
                <a:effectLst/>
                <a:latin typeface="Nunito" pitchFamily="2" charset="0"/>
              </a:rPr>
              <a:t> Final variables must be initialized either at the time of declaration or in the constructor of the class. This ensures that the value of the variable is set and cannot be changed.</a:t>
            </a:r>
          </a:p>
          <a:p>
            <a:endParaRPr lang="en-IN" dirty="0"/>
          </a:p>
        </p:txBody>
      </p:sp>
    </p:spTree>
    <p:extLst>
      <p:ext uri="{BB962C8B-B14F-4D97-AF65-F5344CB8AC3E}">
        <p14:creationId xmlns:p14="http://schemas.microsoft.com/office/powerpoint/2010/main" val="8076470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6ACD7-7008-EF85-84AE-911B8702B2F4}"/>
              </a:ext>
            </a:extLst>
          </p:cNvPr>
          <p:cNvSpPr>
            <a:spLocks noGrp="1"/>
          </p:cNvSpPr>
          <p:nvPr>
            <p:ph type="title"/>
          </p:nvPr>
        </p:nvSpPr>
        <p:spPr/>
        <p:txBody>
          <a:bodyPr/>
          <a:lstStyle/>
          <a:p>
            <a:r>
              <a:rPr lang="en-US" dirty="0"/>
              <a:t>Final keyword</a:t>
            </a:r>
            <a:endParaRPr lang="en-IN" dirty="0"/>
          </a:p>
        </p:txBody>
      </p:sp>
      <p:sp>
        <p:nvSpPr>
          <p:cNvPr id="3" name="Content Placeholder 2">
            <a:extLst>
              <a:ext uri="{FF2B5EF4-FFF2-40B4-BE49-F238E27FC236}">
                <a16:creationId xmlns:a16="http://schemas.microsoft.com/office/drawing/2014/main" id="{19502689-2E44-E863-737C-B1CC6654ED84}"/>
              </a:ext>
            </a:extLst>
          </p:cNvPr>
          <p:cNvSpPr>
            <a:spLocks noGrp="1"/>
          </p:cNvSpPr>
          <p:nvPr>
            <p:ph idx="1"/>
          </p:nvPr>
        </p:nvSpPr>
        <p:spPr/>
        <p:txBody>
          <a:bodyPr/>
          <a:lstStyle/>
          <a:p>
            <a:pPr algn="l" fontAlgn="base">
              <a:buFont typeface="Arial" panose="020B0604020202020204" pitchFamily="34" charset="0"/>
              <a:buChar char="•"/>
            </a:pPr>
            <a:r>
              <a:rPr lang="en-US" b="1" i="0" dirty="0">
                <a:solidFill>
                  <a:srgbClr val="273239"/>
                </a:solidFill>
                <a:effectLst/>
                <a:latin typeface="Nunito" pitchFamily="2" charset="0"/>
              </a:rPr>
              <a:t>Performance:</a:t>
            </a:r>
            <a:r>
              <a:rPr lang="en-US" b="0" i="0" dirty="0">
                <a:solidFill>
                  <a:srgbClr val="273239"/>
                </a:solidFill>
                <a:effectLst/>
                <a:latin typeface="Nunito" pitchFamily="2" charset="0"/>
              </a:rPr>
              <a:t> The use of a final can sometimes improve performance, as the compiler can optimize the code more effectively when it knows that a variable or method cannot be changed.</a:t>
            </a:r>
          </a:p>
          <a:p>
            <a:pPr algn="l" fontAlgn="base">
              <a:buFont typeface="Arial" panose="020B0604020202020204" pitchFamily="34" charset="0"/>
              <a:buChar char="•"/>
            </a:pPr>
            <a:r>
              <a:rPr lang="en-US" b="1" i="0" dirty="0">
                <a:solidFill>
                  <a:srgbClr val="273239"/>
                </a:solidFill>
                <a:effectLst/>
                <a:latin typeface="Nunito" pitchFamily="2" charset="0"/>
              </a:rPr>
              <a:t>Security:</a:t>
            </a:r>
            <a:r>
              <a:rPr lang="en-US" b="0" i="0" dirty="0">
                <a:solidFill>
                  <a:srgbClr val="273239"/>
                </a:solidFill>
                <a:effectLst/>
                <a:latin typeface="Nunito" pitchFamily="2" charset="0"/>
              </a:rPr>
              <a:t> The final can help improve security by preventing malicious code from modifying sensitive data or behavior.</a:t>
            </a:r>
          </a:p>
          <a:p>
            <a:endParaRPr lang="en-IN" dirty="0"/>
          </a:p>
        </p:txBody>
      </p:sp>
    </p:spTree>
    <p:extLst>
      <p:ext uri="{BB962C8B-B14F-4D97-AF65-F5344CB8AC3E}">
        <p14:creationId xmlns:p14="http://schemas.microsoft.com/office/powerpoint/2010/main" val="35824512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6032D-58EA-75D2-357D-2ECD8BEA5293}"/>
              </a:ext>
            </a:extLst>
          </p:cNvPr>
          <p:cNvSpPr>
            <a:spLocks noGrp="1"/>
          </p:cNvSpPr>
          <p:nvPr>
            <p:ph type="title"/>
          </p:nvPr>
        </p:nvSpPr>
        <p:spPr/>
        <p:txBody>
          <a:bodyPr/>
          <a:lstStyle/>
          <a:p>
            <a:r>
              <a:rPr lang="en-US" dirty="0"/>
              <a:t>final</a:t>
            </a:r>
            <a:endParaRPr lang="en-IN" dirty="0"/>
          </a:p>
        </p:txBody>
      </p:sp>
      <p:sp>
        <p:nvSpPr>
          <p:cNvPr id="3" name="Content Placeholder 2">
            <a:extLst>
              <a:ext uri="{FF2B5EF4-FFF2-40B4-BE49-F238E27FC236}">
                <a16:creationId xmlns:a16="http://schemas.microsoft.com/office/drawing/2014/main" id="{2F229571-B7B1-9383-A3B5-190370AB5E11}"/>
              </a:ext>
            </a:extLst>
          </p:cNvPr>
          <p:cNvSpPr>
            <a:spLocks noGrp="1"/>
          </p:cNvSpPr>
          <p:nvPr>
            <p:ph idx="1"/>
          </p:nvPr>
        </p:nvSpPr>
        <p:spPr/>
        <p:txBody>
          <a:bodyPr>
            <a:normAutofit lnSpcReduction="10000"/>
          </a:bodyPr>
          <a:lstStyle/>
          <a:p>
            <a:pPr marL="0" indent="0">
              <a:buNone/>
            </a:pPr>
            <a:r>
              <a:rPr lang="en-IN" dirty="0"/>
              <a:t>public class </a:t>
            </a:r>
            <a:r>
              <a:rPr lang="en-IN" dirty="0" err="1"/>
              <a:t>ConstantExample</a:t>
            </a:r>
            <a:r>
              <a:rPr lang="en-IN" dirty="0"/>
              <a:t> {</a:t>
            </a:r>
          </a:p>
          <a:p>
            <a:pPr marL="0" indent="0">
              <a:buNone/>
            </a:pPr>
            <a:r>
              <a:rPr lang="en-IN" dirty="0"/>
              <a:t>    public static void main(String[] </a:t>
            </a:r>
            <a:r>
              <a:rPr lang="en-IN" dirty="0" err="1"/>
              <a:t>args</a:t>
            </a:r>
            <a:r>
              <a:rPr lang="en-IN" dirty="0"/>
              <a:t>) {</a:t>
            </a:r>
          </a:p>
          <a:p>
            <a:pPr marL="0" indent="0">
              <a:buNone/>
            </a:pPr>
            <a:r>
              <a:rPr lang="en-IN" dirty="0"/>
              <a:t>        // Define a constant variable PI</a:t>
            </a:r>
          </a:p>
          <a:p>
            <a:pPr marL="0" indent="0">
              <a:buNone/>
            </a:pPr>
            <a:r>
              <a:rPr lang="en-IN" dirty="0"/>
              <a:t>        final double PI = 3.14159;</a:t>
            </a:r>
          </a:p>
          <a:p>
            <a:endParaRPr lang="en-IN" dirty="0"/>
          </a:p>
          <a:p>
            <a:pPr marL="0" indent="0">
              <a:buNone/>
            </a:pPr>
            <a:r>
              <a:rPr lang="en-IN" dirty="0"/>
              <a:t>        // Print the value of PI</a:t>
            </a:r>
          </a:p>
          <a:p>
            <a:pPr marL="0" indent="0">
              <a:buNone/>
            </a:pPr>
            <a:r>
              <a:rPr lang="en-IN" dirty="0"/>
              <a:t>        </a:t>
            </a:r>
            <a:r>
              <a:rPr lang="en-IN" dirty="0" err="1"/>
              <a:t>System.out.println</a:t>
            </a:r>
            <a:r>
              <a:rPr lang="en-IN" dirty="0"/>
              <a:t>("Value of PI: " + PI);</a:t>
            </a:r>
          </a:p>
          <a:p>
            <a:pPr marL="0" indent="0">
              <a:buNone/>
            </a:pPr>
            <a:r>
              <a:rPr lang="en-IN" dirty="0"/>
              <a:t>    }</a:t>
            </a:r>
          </a:p>
          <a:p>
            <a:pPr marL="0" indent="0">
              <a:buNone/>
            </a:pPr>
            <a:r>
              <a:rPr lang="en-IN" dirty="0"/>
              <a:t>}</a:t>
            </a:r>
          </a:p>
          <a:p>
            <a:endParaRPr lang="en-IN" dirty="0"/>
          </a:p>
        </p:txBody>
      </p:sp>
    </p:spTree>
    <p:extLst>
      <p:ext uri="{BB962C8B-B14F-4D97-AF65-F5344CB8AC3E}">
        <p14:creationId xmlns:p14="http://schemas.microsoft.com/office/powerpoint/2010/main" val="21618708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3B7A8-18FE-2792-02AF-526FFF18BCA8}"/>
              </a:ext>
            </a:extLst>
          </p:cNvPr>
          <p:cNvSpPr>
            <a:spLocks noGrp="1"/>
          </p:cNvSpPr>
          <p:nvPr>
            <p:ph type="title"/>
          </p:nvPr>
        </p:nvSpPr>
        <p:spPr/>
        <p:txBody>
          <a:bodyPr>
            <a:normAutofit fontScale="90000"/>
          </a:bodyPr>
          <a:lstStyle/>
          <a:p>
            <a:r>
              <a:rPr lang="en-US" b="1" i="0" dirty="0">
                <a:solidFill>
                  <a:srgbClr val="273239"/>
                </a:solidFill>
                <a:effectLst/>
                <a:latin typeface="Source Sans 3"/>
              </a:rPr>
              <a:t>Serialization and Deserialization in Java </a:t>
            </a:r>
            <a:br>
              <a:rPr lang="en-US" b="1" i="0" dirty="0">
                <a:solidFill>
                  <a:srgbClr val="273239"/>
                </a:solidFill>
                <a:effectLst/>
                <a:latin typeface="Source Sans 3"/>
              </a:rPr>
            </a:br>
            <a:endParaRPr lang="en-IN" dirty="0"/>
          </a:p>
        </p:txBody>
      </p:sp>
      <p:sp>
        <p:nvSpPr>
          <p:cNvPr id="3" name="Content Placeholder 2">
            <a:extLst>
              <a:ext uri="{FF2B5EF4-FFF2-40B4-BE49-F238E27FC236}">
                <a16:creationId xmlns:a16="http://schemas.microsoft.com/office/drawing/2014/main" id="{958685DF-C5CA-7243-7564-A64927629ECA}"/>
              </a:ext>
            </a:extLst>
          </p:cNvPr>
          <p:cNvSpPr>
            <a:spLocks noGrp="1"/>
          </p:cNvSpPr>
          <p:nvPr>
            <p:ph idx="1"/>
          </p:nvPr>
        </p:nvSpPr>
        <p:spPr/>
        <p:txBody>
          <a:bodyPr/>
          <a:lstStyle/>
          <a:p>
            <a:r>
              <a:rPr lang="en-US" b="0" i="0" dirty="0">
                <a:solidFill>
                  <a:srgbClr val="273239"/>
                </a:solidFill>
                <a:effectLst/>
                <a:latin typeface="Nunito" pitchFamily="2" charset="0"/>
              </a:rPr>
              <a:t>Serialization is a mechanism of converting the state of an object into a byte stream.</a:t>
            </a:r>
          </a:p>
          <a:p>
            <a:r>
              <a:rPr lang="en-US" b="0" i="0" dirty="0">
                <a:solidFill>
                  <a:srgbClr val="273239"/>
                </a:solidFill>
                <a:effectLst/>
                <a:latin typeface="Nunito" pitchFamily="2" charset="0"/>
              </a:rPr>
              <a:t>Deserialization is the reverse process where the byte stream is used to recreate the actual Java object in memory. This mechanism is used to persist the object.</a:t>
            </a:r>
            <a:endParaRPr lang="en-IN" dirty="0"/>
          </a:p>
        </p:txBody>
      </p:sp>
    </p:spTree>
    <p:extLst>
      <p:ext uri="{BB962C8B-B14F-4D97-AF65-F5344CB8AC3E}">
        <p14:creationId xmlns:p14="http://schemas.microsoft.com/office/powerpoint/2010/main" val="2524032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EDFF6-468B-58F0-CFD3-293E27A8CD9A}"/>
              </a:ext>
            </a:extLst>
          </p:cNvPr>
          <p:cNvSpPr>
            <a:spLocks noGrp="1"/>
          </p:cNvSpPr>
          <p:nvPr>
            <p:ph type="title"/>
          </p:nvPr>
        </p:nvSpPr>
        <p:spPr/>
        <p:txBody>
          <a:bodyPr/>
          <a:lstStyle/>
          <a:p>
            <a:r>
              <a:rPr lang="en-IN" b="1" i="0" dirty="0">
                <a:solidFill>
                  <a:srgbClr val="273239"/>
                </a:solidFill>
                <a:effectLst/>
                <a:latin typeface="Source Sans 3"/>
              </a:rPr>
              <a:t>Synchronization in Java</a:t>
            </a:r>
            <a:endParaRPr lang="en-IN" dirty="0"/>
          </a:p>
        </p:txBody>
      </p:sp>
      <p:sp>
        <p:nvSpPr>
          <p:cNvPr id="3" name="Content Placeholder 2">
            <a:extLst>
              <a:ext uri="{FF2B5EF4-FFF2-40B4-BE49-F238E27FC236}">
                <a16:creationId xmlns:a16="http://schemas.microsoft.com/office/drawing/2014/main" id="{CED03A6C-4AF7-F4A0-3BD6-AC018830E35A}"/>
              </a:ext>
            </a:extLst>
          </p:cNvPr>
          <p:cNvSpPr>
            <a:spLocks noGrp="1"/>
          </p:cNvSpPr>
          <p:nvPr>
            <p:ph idx="1"/>
          </p:nvPr>
        </p:nvSpPr>
        <p:spPr/>
        <p:txBody>
          <a:bodyPr/>
          <a:lstStyle/>
          <a:p>
            <a:r>
              <a:rPr lang="en-US" b="0" i="0" dirty="0">
                <a:solidFill>
                  <a:srgbClr val="273239"/>
                </a:solidFill>
                <a:effectLst/>
                <a:latin typeface="Nunito" pitchFamily="2" charset="0"/>
              </a:rPr>
              <a:t>Java Synchronization is used to make sure by some synchronization method that only one thread can access the resource at a given point in time. </a:t>
            </a:r>
          </a:p>
          <a:p>
            <a:r>
              <a:rPr lang="en-US" b="0" i="0" dirty="0">
                <a:solidFill>
                  <a:srgbClr val="273239"/>
                </a:solidFill>
                <a:effectLst/>
                <a:latin typeface="Nunito" pitchFamily="2" charset="0"/>
              </a:rPr>
              <a:t>Multi-threaded programs may often come to a situation where multiple threads try to access the same resources and finally produce erroneous</a:t>
            </a:r>
            <a:endParaRPr lang="en-IN" dirty="0"/>
          </a:p>
        </p:txBody>
      </p:sp>
    </p:spTree>
    <p:extLst>
      <p:ext uri="{BB962C8B-B14F-4D97-AF65-F5344CB8AC3E}">
        <p14:creationId xmlns:p14="http://schemas.microsoft.com/office/powerpoint/2010/main" val="1160782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4E8C6-F3FC-FC74-9E01-8034F57B5AEC}"/>
              </a:ext>
            </a:extLst>
          </p:cNvPr>
          <p:cNvSpPr>
            <a:spLocks noGrp="1"/>
          </p:cNvSpPr>
          <p:nvPr>
            <p:ph type="title"/>
          </p:nvPr>
        </p:nvSpPr>
        <p:spPr/>
        <p:txBody>
          <a:bodyPr/>
          <a:lstStyle/>
          <a:p>
            <a:r>
              <a:rPr lang="en-US" dirty="0"/>
              <a:t>Serialization/Deserialization</a:t>
            </a:r>
            <a:endParaRPr lang="en-IN" dirty="0"/>
          </a:p>
        </p:txBody>
      </p:sp>
      <p:pic>
        <p:nvPicPr>
          <p:cNvPr id="5" name="Content Placeholder 4">
            <a:extLst>
              <a:ext uri="{FF2B5EF4-FFF2-40B4-BE49-F238E27FC236}">
                <a16:creationId xmlns:a16="http://schemas.microsoft.com/office/drawing/2014/main" id="{6F056F31-7F0D-C71B-AF98-4F25E1415688}"/>
              </a:ext>
            </a:extLst>
          </p:cNvPr>
          <p:cNvPicPr>
            <a:picLocks noGrp="1" noChangeAspect="1"/>
          </p:cNvPicPr>
          <p:nvPr>
            <p:ph idx="1"/>
          </p:nvPr>
        </p:nvPicPr>
        <p:blipFill>
          <a:blip r:embed="rId2"/>
          <a:stretch>
            <a:fillRect/>
          </a:stretch>
        </p:blipFill>
        <p:spPr>
          <a:xfrm>
            <a:off x="1335690" y="2453481"/>
            <a:ext cx="6032969" cy="3799835"/>
          </a:xfrm>
        </p:spPr>
      </p:pic>
    </p:spTree>
    <p:extLst>
      <p:ext uri="{BB962C8B-B14F-4D97-AF65-F5344CB8AC3E}">
        <p14:creationId xmlns:p14="http://schemas.microsoft.com/office/powerpoint/2010/main" val="16988927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B1A3C-289F-3053-83D9-EC4E88B2EC2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3B9908A-DD46-A278-D918-D58D5148E2A0}"/>
              </a:ext>
            </a:extLst>
          </p:cNvPr>
          <p:cNvSpPr>
            <a:spLocks noGrp="1"/>
          </p:cNvSpPr>
          <p:nvPr>
            <p:ph idx="1"/>
          </p:nvPr>
        </p:nvSpPr>
        <p:spPr/>
        <p:txBody>
          <a:bodyPr/>
          <a:lstStyle/>
          <a:p>
            <a:r>
              <a:rPr lang="en-US" b="0" i="0" dirty="0">
                <a:solidFill>
                  <a:srgbClr val="273239"/>
                </a:solidFill>
                <a:effectLst/>
                <a:latin typeface="Nunito" pitchFamily="2" charset="0"/>
              </a:rPr>
              <a:t>The byte stream created is platform independent. So, the object serialized on one platform can be deserialized on a different platform. To make a Java object serializable we implement the </a:t>
            </a:r>
            <a:r>
              <a:rPr lang="en-US" b="1" i="0" dirty="0" err="1">
                <a:solidFill>
                  <a:srgbClr val="273239"/>
                </a:solidFill>
                <a:effectLst/>
                <a:latin typeface="Nunito" pitchFamily="2" charset="0"/>
              </a:rPr>
              <a:t>java.io.Serializable</a:t>
            </a:r>
            <a:r>
              <a:rPr lang="en-US" b="0" i="0" dirty="0">
                <a:solidFill>
                  <a:srgbClr val="273239"/>
                </a:solidFill>
                <a:effectLst/>
                <a:latin typeface="Nunito" pitchFamily="2" charset="0"/>
              </a:rPr>
              <a:t> interface. The </a:t>
            </a:r>
            <a:r>
              <a:rPr lang="en-US" b="0" i="0" dirty="0" err="1">
                <a:solidFill>
                  <a:srgbClr val="273239"/>
                </a:solidFill>
                <a:effectLst/>
                <a:latin typeface="Nunito" pitchFamily="2" charset="0"/>
              </a:rPr>
              <a:t>ObjectOutputStream</a:t>
            </a:r>
            <a:r>
              <a:rPr lang="en-US" b="0" i="0" dirty="0">
                <a:solidFill>
                  <a:srgbClr val="273239"/>
                </a:solidFill>
                <a:effectLst/>
                <a:latin typeface="Nunito" pitchFamily="2" charset="0"/>
              </a:rPr>
              <a:t> class contains </a:t>
            </a:r>
            <a:r>
              <a:rPr lang="en-US" b="1" i="0" dirty="0" err="1">
                <a:solidFill>
                  <a:srgbClr val="273239"/>
                </a:solidFill>
                <a:effectLst/>
                <a:latin typeface="Nunito" pitchFamily="2" charset="0"/>
              </a:rPr>
              <a:t>writeObject</a:t>
            </a:r>
            <a:r>
              <a:rPr lang="en-US" b="1" i="0" dirty="0">
                <a:solidFill>
                  <a:srgbClr val="273239"/>
                </a:solidFill>
                <a:effectLst/>
                <a:latin typeface="Nunito" pitchFamily="2" charset="0"/>
              </a:rPr>
              <a:t>()</a:t>
            </a:r>
            <a:r>
              <a:rPr lang="en-US" b="0" i="0" dirty="0">
                <a:solidFill>
                  <a:srgbClr val="273239"/>
                </a:solidFill>
                <a:effectLst/>
                <a:latin typeface="Nunito" pitchFamily="2" charset="0"/>
              </a:rPr>
              <a:t> method for serializing an Object. </a:t>
            </a:r>
            <a:endParaRPr lang="en-IN" dirty="0"/>
          </a:p>
        </p:txBody>
      </p:sp>
    </p:spTree>
    <p:extLst>
      <p:ext uri="{BB962C8B-B14F-4D97-AF65-F5344CB8AC3E}">
        <p14:creationId xmlns:p14="http://schemas.microsoft.com/office/powerpoint/2010/main" val="8641101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59C2C-CF16-A6BD-C5DD-79F4EDD37B36}"/>
              </a:ext>
            </a:extLst>
          </p:cNvPr>
          <p:cNvSpPr>
            <a:spLocks noGrp="1"/>
          </p:cNvSpPr>
          <p:nvPr>
            <p:ph type="title"/>
          </p:nvPr>
        </p:nvSpPr>
        <p:spPr/>
        <p:txBody>
          <a:bodyPr/>
          <a:lstStyle/>
          <a:p>
            <a:r>
              <a:rPr lang="en-US" dirty="0"/>
              <a:t>Transient in Java</a:t>
            </a:r>
            <a:endParaRPr lang="en-IN" dirty="0"/>
          </a:p>
        </p:txBody>
      </p:sp>
      <p:sp>
        <p:nvSpPr>
          <p:cNvPr id="3" name="Content Placeholder 2">
            <a:extLst>
              <a:ext uri="{FF2B5EF4-FFF2-40B4-BE49-F238E27FC236}">
                <a16:creationId xmlns:a16="http://schemas.microsoft.com/office/drawing/2014/main" id="{71CA8CE3-56F1-FA31-EF01-5478DCABDEEA}"/>
              </a:ext>
            </a:extLst>
          </p:cNvPr>
          <p:cNvSpPr>
            <a:spLocks noGrp="1"/>
          </p:cNvSpPr>
          <p:nvPr>
            <p:ph idx="1"/>
          </p:nvPr>
        </p:nvSpPr>
        <p:spPr/>
        <p:txBody>
          <a:bodyPr/>
          <a:lstStyle/>
          <a:p>
            <a:r>
              <a:rPr lang="en-US" b="1" i="0" dirty="0">
                <a:solidFill>
                  <a:srgbClr val="273239"/>
                </a:solidFill>
                <a:effectLst/>
                <a:latin typeface="Nunito" pitchFamily="2" charset="0"/>
              </a:rPr>
              <a:t>transient</a:t>
            </a:r>
            <a:r>
              <a:rPr lang="en-US" b="0" i="0" dirty="0">
                <a:solidFill>
                  <a:srgbClr val="273239"/>
                </a:solidFill>
                <a:effectLst/>
                <a:latin typeface="Nunito" pitchFamily="2" charset="0"/>
              </a:rPr>
              <a:t> is a variables modifier used in </a:t>
            </a:r>
            <a:r>
              <a:rPr lang="en-US" b="0" i="0" u="sng" dirty="0">
                <a:effectLst/>
                <a:latin typeface="Nunito" pitchFamily="2" charset="0"/>
                <a:hlinkClick r:id="rId2"/>
              </a:rPr>
              <a:t>serialization</a:t>
            </a:r>
            <a:r>
              <a:rPr lang="en-US" b="0" i="0" dirty="0">
                <a:solidFill>
                  <a:srgbClr val="273239"/>
                </a:solidFill>
                <a:effectLst/>
                <a:latin typeface="Nunito" pitchFamily="2" charset="0"/>
              </a:rPr>
              <a:t>.</a:t>
            </a:r>
          </a:p>
          <a:p>
            <a:r>
              <a:rPr lang="en-US" b="0" i="0" dirty="0">
                <a:solidFill>
                  <a:srgbClr val="273239"/>
                </a:solidFill>
                <a:effectLst/>
                <a:latin typeface="Nunito" pitchFamily="2" charset="0"/>
              </a:rPr>
              <a:t>At the time of serialization, if we don’t want to save value of a particular variable in a file, then we use </a:t>
            </a:r>
            <a:r>
              <a:rPr lang="en-US" b="1" i="0" dirty="0">
                <a:solidFill>
                  <a:srgbClr val="273239"/>
                </a:solidFill>
                <a:effectLst/>
                <a:latin typeface="Nunito" pitchFamily="2" charset="0"/>
              </a:rPr>
              <a:t>transient</a:t>
            </a:r>
            <a:r>
              <a:rPr lang="en-US" b="0" i="0" dirty="0">
                <a:solidFill>
                  <a:srgbClr val="273239"/>
                </a:solidFill>
                <a:effectLst/>
                <a:latin typeface="Nunito" pitchFamily="2" charset="0"/>
              </a:rPr>
              <a:t> keyword. </a:t>
            </a:r>
          </a:p>
          <a:p>
            <a:r>
              <a:rPr lang="en-US" b="0" i="0" dirty="0">
                <a:solidFill>
                  <a:srgbClr val="273239"/>
                </a:solidFill>
                <a:effectLst/>
                <a:latin typeface="Nunito" pitchFamily="2" charset="0"/>
              </a:rPr>
              <a:t>When JVM comes across </a:t>
            </a:r>
            <a:r>
              <a:rPr lang="en-US" b="1" i="0" dirty="0">
                <a:solidFill>
                  <a:srgbClr val="273239"/>
                </a:solidFill>
                <a:effectLst/>
                <a:latin typeface="Nunito" pitchFamily="2" charset="0"/>
              </a:rPr>
              <a:t>transient </a:t>
            </a:r>
            <a:r>
              <a:rPr lang="en-US" b="0" i="0" dirty="0">
                <a:solidFill>
                  <a:srgbClr val="273239"/>
                </a:solidFill>
                <a:effectLst/>
                <a:latin typeface="Nunito" pitchFamily="2" charset="0"/>
              </a:rPr>
              <a:t>keyword, it ignores original value of the variable and save default value of that variable data type.</a:t>
            </a:r>
            <a:endParaRPr lang="en-IN" dirty="0"/>
          </a:p>
        </p:txBody>
      </p:sp>
    </p:spTree>
    <p:extLst>
      <p:ext uri="{BB962C8B-B14F-4D97-AF65-F5344CB8AC3E}">
        <p14:creationId xmlns:p14="http://schemas.microsoft.com/office/powerpoint/2010/main" val="20906272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472B9-4480-B6FC-53DA-E3231AD7CD3D}"/>
              </a:ext>
            </a:extLst>
          </p:cNvPr>
          <p:cNvSpPr>
            <a:spLocks noGrp="1"/>
          </p:cNvSpPr>
          <p:nvPr>
            <p:ph type="title"/>
          </p:nvPr>
        </p:nvSpPr>
        <p:spPr/>
        <p:txBody>
          <a:bodyPr/>
          <a:lstStyle/>
          <a:p>
            <a:r>
              <a:rPr lang="en-US" b="1" i="0" dirty="0">
                <a:solidFill>
                  <a:srgbClr val="273239"/>
                </a:solidFill>
                <a:effectLst/>
                <a:latin typeface="Nunito" pitchFamily="2" charset="0"/>
              </a:rPr>
              <a:t>transient</a:t>
            </a:r>
            <a:endParaRPr lang="en-IN" dirty="0"/>
          </a:p>
        </p:txBody>
      </p:sp>
      <p:sp>
        <p:nvSpPr>
          <p:cNvPr id="3" name="Content Placeholder 2">
            <a:extLst>
              <a:ext uri="{FF2B5EF4-FFF2-40B4-BE49-F238E27FC236}">
                <a16:creationId xmlns:a16="http://schemas.microsoft.com/office/drawing/2014/main" id="{44ADBC2E-BA4F-0A3B-EECC-AD9DF918E06E}"/>
              </a:ext>
            </a:extLst>
          </p:cNvPr>
          <p:cNvSpPr>
            <a:spLocks noGrp="1"/>
          </p:cNvSpPr>
          <p:nvPr>
            <p:ph idx="1"/>
          </p:nvPr>
        </p:nvSpPr>
        <p:spPr/>
        <p:txBody>
          <a:bodyPr>
            <a:normAutofit lnSpcReduction="10000"/>
          </a:bodyPr>
          <a:lstStyle/>
          <a:p>
            <a:r>
              <a:rPr lang="en-US" b="1" i="0" dirty="0">
                <a:solidFill>
                  <a:srgbClr val="273239"/>
                </a:solidFill>
                <a:effectLst/>
                <a:latin typeface="Nunito" pitchFamily="2" charset="0"/>
              </a:rPr>
              <a:t>transient</a:t>
            </a:r>
            <a:r>
              <a:rPr lang="en-US" b="0" i="0" dirty="0">
                <a:solidFill>
                  <a:srgbClr val="273239"/>
                </a:solidFill>
                <a:effectLst/>
                <a:latin typeface="Nunito" pitchFamily="2" charset="0"/>
              </a:rPr>
              <a:t> keyword plays an important role to meet security constraints. </a:t>
            </a:r>
          </a:p>
          <a:p>
            <a:r>
              <a:rPr lang="en-US" b="0" i="0" dirty="0">
                <a:solidFill>
                  <a:srgbClr val="273239"/>
                </a:solidFill>
                <a:effectLst/>
                <a:latin typeface="Nunito" pitchFamily="2" charset="0"/>
              </a:rPr>
              <a:t>There are various real-life examples where we don’t want to save private data in file. </a:t>
            </a:r>
          </a:p>
          <a:p>
            <a:r>
              <a:rPr lang="en-US" b="0" i="0" dirty="0">
                <a:solidFill>
                  <a:srgbClr val="273239"/>
                </a:solidFill>
                <a:effectLst/>
                <a:latin typeface="Nunito" pitchFamily="2" charset="0"/>
              </a:rPr>
              <a:t>Another use of </a:t>
            </a:r>
            <a:r>
              <a:rPr lang="en-US" b="1" i="0" dirty="0">
                <a:solidFill>
                  <a:srgbClr val="273239"/>
                </a:solidFill>
                <a:effectLst/>
                <a:latin typeface="Nunito" pitchFamily="2" charset="0"/>
              </a:rPr>
              <a:t>transient</a:t>
            </a:r>
            <a:r>
              <a:rPr lang="en-US" b="0" i="0" dirty="0">
                <a:solidFill>
                  <a:srgbClr val="273239"/>
                </a:solidFill>
                <a:effectLst/>
                <a:latin typeface="Nunito" pitchFamily="2" charset="0"/>
              </a:rPr>
              <a:t> keyword is not to serialize the variable whose value can be calculated/derived using other serialized objects or system such as age of a person, current date, etc.</a:t>
            </a:r>
          </a:p>
          <a:p>
            <a:r>
              <a:rPr lang="en-US" b="0" i="0">
                <a:solidFill>
                  <a:srgbClr val="273239"/>
                </a:solidFill>
                <a:effectLst/>
                <a:latin typeface="Nunito" pitchFamily="2" charset="0"/>
              </a:rPr>
              <a:t>serialization is all about to save state of an object to a file.</a:t>
            </a:r>
            <a:endParaRPr lang="en-IN" dirty="0"/>
          </a:p>
        </p:txBody>
      </p:sp>
    </p:spTree>
    <p:extLst>
      <p:ext uri="{BB962C8B-B14F-4D97-AF65-F5344CB8AC3E}">
        <p14:creationId xmlns:p14="http://schemas.microsoft.com/office/powerpoint/2010/main" val="145919209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308</TotalTime>
  <Words>1045</Words>
  <Application>Microsoft Office PowerPoint</Application>
  <PresentationFormat>On-screen Show (4:3)</PresentationFormat>
  <Paragraphs>77</Paragraphs>
  <Slides>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Aptos</vt:lpstr>
      <vt:lpstr>Aptos Display</vt:lpstr>
      <vt:lpstr>Arial</vt:lpstr>
      <vt:lpstr>Nunito</vt:lpstr>
      <vt:lpstr>Source Sans 3</vt:lpstr>
      <vt:lpstr>Office Theme</vt:lpstr>
      <vt:lpstr>Java Keywords</vt:lpstr>
      <vt:lpstr>Java Keywords</vt:lpstr>
      <vt:lpstr>static keyword</vt:lpstr>
      <vt:lpstr>Static keyword</vt:lpstr>
      <vt:lpstr>Static keyword</vt:lpstr>
      <vt:lpstr>Static keyword</vt:lpstr>
      <vt:lpstr>PowerPoint Presentation</vt:lpstr>
      <vt:lpstr>Static variables and Members</vt:lpstr>
      <vt:lpstr>Static methods restrictions</vt:lpstr>
      <vt:lpstr>PowerPoint Presentation</vt:lpstr>
      <vt:lpstr>The final keyword</vt:lpstr>
      <vt:lpstr>Final keyword</vt:lpstr>
      <vt:lpstr>Characteristics of final keyword</vt:lpstr>
      <vt:lpstr>Final keyword</vt:lpstr>
      <vt:lpstr>Final keyword</vt:lpstr>
      <vt:lpstr>final</vt:lpstr>
      <vt:lpstr>Serialization and Deserialization in Java  </vt:lpstr>
      <vt:lpstr>Synchronization in Java</vt:lpstr>
      <vt:lpstr>Serialization/Deserialization</vt:lpstr>
      <vt:lpstr>PowerPoint Presentation</vt:lpstr>
      <vt:lpstr>Transient in Java</vt:lpstr>
      <vt:lpstr>transient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Dr Ashwin Bhagat</dc:creator>
  <cp:lastModifiedBy>Dr Ashwin Bhagat</cp:lastModifiedBy>
  <cp:revision>39</cp:revision>
  <dcterms:created xsi:type="dcterms:W3CDTF">2024-09-13T07:08:41Z</dcterms:created>
  <dcterms:modified xsi:type="dcterms:W3CDTF">2025-08-20T05:32:09Z</dcterms:modified>
</cp:coreProperties>
</file>