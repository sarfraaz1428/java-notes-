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64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8-29T16:34:30.92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0 249,'316'2,"339"-5,-441-12,-173 9,0-1,-1-2,47-17,-48 13,1 1,1 2,0 2,46-3,168 5,230 8,-444-5,0-2,0-1,-1-2,42-14,76-15,-38 17,206-5,-234 25,-56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8-29T16:34:42.49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0 125,'658'0,"-618"-2,0-2,44-10,-38 6,54-4,606 9,-365 6,-256-2,-26 0,-1-1,1-3,67-13,-7-8,1 5,235-6,-112 28,-208-3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8-29T16:35:08.41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0 182,'7'0,"10"0,8 0,14 0,7 0,17 0,12 0,14 0,12 0,25 0,24 0,37-7,28-9,5-16,0-2,-30-3,-41 5,-45 8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8-29T16:38:41.85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1 209,'4'0,"70"1,141-18,119-22,-196 26,164 2,-75 6,-63-14,17-1,47 2,34-2,1412 14,-921 9,-374-1,891-20,772-10,-1416 30,2015-2,-2612 2,0 1,53 12,-18-2,-29-8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8-29T16:38:48.69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541D0-6EE0-441F-A305-1EA2E66DBF5E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CAD08-908D-49C2-9B29-7005532EE0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2706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541D0-6EE0-441F-A305-1EA2E66DBF5E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CAD08-908D-49C2-9B29-7005532EE0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8584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541D0-6EE0-441F-A305-1EA2E66DBF5E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CAD08-908D-49C2-9B29-7005532EE0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48437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541D0-6EE0-441F-A305-1EA2E66DBF5E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CAD08-908D-49C2-9B29-7005532EE0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4174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541D0-6EE0-441F-A305-1EA2E66DBF5E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CAD08-908D-49C2-9B29-7005532EE0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3316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541D0-6EE0-441F-A305-1EA2E66DBF5E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CAD08-908D-49C2-9B29-7005532EE0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7071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541D0-6EE0-441F-A305-1EA2E66DBF5E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CAD08-908D-49C2-9B29-7005532EE0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0474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541D0-6EE0-441F-A305-1EA2E66DBF5E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CAD08-908D-49C2-9B29-7005532EE0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7766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541D0-6EE0-441F-A305-1EA2E66DBF5E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CAD08-908D-49C2-9B29-7005532EE0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799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541D0-6EE0-441F-A305-1EA2E66DBF5E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CAD08-908D-49C2-9B29-7005532EE0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292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541D0-6EE0-441F-A305-1EA2E66DBF5E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CAD08-908D-49C2-9B29-7005532EE0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0854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F541D0-6EE0-441F-A305-1EA2E66DBF5E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FCAD08-908D-49C2-9B29-7005532EE0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471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customXml" Target="../ink/ink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customXml" Target="../ink/ink5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4D17B-908F-5078-1F65-12AE381936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Classes in Java</a:t>
            </a:r>
            <a:endParaRPr lang="en-IN" dirty="0"/>
          </a:p>
        </p:txBody>
      </p:sp>
      <p:pic>
        <p:nvPicPr>
          <p:cNvPr id="3" name="Picture 2" descr="A close-up of a logo&#10;&#10;AI-generated content may be incorrect.">
            <a:extLst>
              <a:ext uri="{FF2B5EF4-FFF2-40B4-BE49-F238E27FC236}">
                <a16:creationId xmlns:a16="http://schemas.microsoft.com/office/drawing/2014/main" id="{E2DB415F-26BA-C867-3BC8-4278E5F4524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1280" y="242617"/>
            <a:ext cx="2529014" cy="879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695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34579-A214-9A2E-723B-2D2BA87CC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Fundamentals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028148-871D-2F09-B19E-B0A2BA16B3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class defines a new data type</a:t>
            </a:r>
          </a:p>
          <a:p>
            <a:r>
              <a:rPr lang="en-US" dirty="0"/>
              <a:t>Once defined, this new type can be used to create objects of that type.</a:t>
            </a:r>
          </a:p>
          <a:p>
            <a:r>
              <a:rPr lang="en-US" dirty="0"/>
              <a:t>a class is a template for an object, and an object is an instance of a class.</a:t>
            </a:r>
          </a:p>
          <a:p>
            <a:r>
              <a:rPr lang="en-US" dirty="0"/>
              <a:t>A class is declared by use of the class keyword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2002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DB60596-783F-7AE5-BB5D-065D63FE6E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8302" y="225066"/>
            <a:ext cx="3397813" cy="62553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EB6A54E-7F42-3971-5830-9B62FFAA102B}"/>
              </a:ext>
            </a:extLst>
          </p:cNvPr>
          <p:cNvSpPr txBox="1"/>
          <p:nvPr/>
        </p:nvSpPr>
        <p:spPr>
          <a:xfrm>
            <a:off x="6120581" y="2772697"/>
            <a:ext cx="25809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Default Structure of a Class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3972963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A86B2-8C09-FFD5-F1EE-FC2CE9F95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Fundamentals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3D92C5-A81F-3F5F-2E3B-36EAEEE899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The data, or variables, defined within a class are called instance </a:t>
            </a:r>
            <a:r>
              <a:rPr lang="en-US" b="1" dirty="0"/>
              <a:t>variables</a:t>
            </a:r>
            <a:r>
              <a:rPr lang="en-US" dirty="0"/>
              <a:t>. </a:t>
            </a:r>
          </a:p>
          <a:p>
            <a:r>
              <a:rPr lang="en-US" dirty="0"/>
              <a:t>The code is contained within </a:t>
            </a:r>
            <a:r>
              <a:rPr lang="en-US" b="1" dirty="0"/>
              <a:t>methods</a:t>
            </a:r>
            <a:r>
              <a:rPr lang="en-US" dirty="0"/>
              <a:t>.</a:t>
            </a:r>
          </a:p>
          <a:p>
            <a:r>
              <a:rPr lang="en-US" dirty="0"/>
              <a:t>Collectively, the methods and variables defined within a class are called members of the class.</a:t>
            </a:r>
          </a:p>
          <a:p>
            <a:r>
              <a:rPr lang="en-US" dirty="0"/>
              <a:t> In most classes, the </a:t>
            </a:r>
            <a:r>
              <a:rPr lang="en-US" b="1" dirty="0"/>
              <a:t>instance</a:t>
            </a:r>
            <a:r>
              <a:rPr lang="en-US" dirty="0"/>
              <a:t> variables are acted upon and accessed by the methods defined for that class</a:t>
            </a:r>
          </a:p>
          <a:p>
            <a:r>
              <a:rPr lang="en-US" dirty="0"/>
              <a:t>Variables defined within a class are called instance variables because each instance of the class (that is, each object of the class) contains its own copy of these variables</a:t>
            </a:r>
          </a:p>
          <a:p>
            <a:r>
              <a:rPr lang="en-US" dirty="0"/>
              <a:t>the data for one object is separate and unique from the data for another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44623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0DA563B-8079-F588-55F3-661DF54C68AD}"/>
              </a:ext>
            </a:extLst>
          </p:cNvPr>
          <p:cNvGrpSpPr/>
          <p:nvPr/>
        </p:nvGrpSpPr>
        <p:grpSpPr>
          <a:xfrm>
            <a:off x="1646749" y="180975"/>
            <a:ext cx="5461974" cy="6352560"/>
            <a:chOff x="1646749" y="180975"/>
            <a:chExt cx="4257675" cy="49911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C0CADB3-2670-F5A3-85FF-13303CCB8F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46749" y="180975"/>
              <a:ext cx="4257675" cy="3248025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C472AE3-A464-E443-7FA0-3E97F9CC175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5799" y="3429000"/>
              <a:ext cx="4238625" cy="17430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9655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6F2EE-CCCA-EC75-1794-000070A94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1BB3C-1DCA-E313-17E9-83C7B705E6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obtaining objects of a class is a two-step process</a:t>
            </a:r>
          </a:p>
          <a:p>
            <a:r>
              <a:rPr lang="en-US" dirty="0"/>
              <a:t>declare a variable of the class type. This variable does not define an object. Instead, it is simply a variable that can refer to an object</a:t>
            </a:r>
          </a:p>
          <a:p>
            <a:r>
              <a:rPr lang="en-US" dirty="0"/>
              <a:t>The new operator dynamically allocates (that is, allocates at run time) memory for an object and returns a reference to it</a:t>
            </a:r>
          </a:p>
          <a:p>
            <a:r>
              <a:rPr lang="en-US" dirty="0"/>
              <a:t>the address in memory of the object allocated by new.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78878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00E550C-7DEF-4A2C-FBE4-3217A590C7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965" y="1297857"/>
            <a:ext cx="8242070" cy="3989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0916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E0C57-CF12-6A8A-08D3-750F430ED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315911"/>
          </a:xfrm>
        </p:spPr>
        <p:txBody>
          <a:bodyPr>
            <a:normAutofit fontScale="90000"/>
          </a:bodyPr>
          <a:lstStyle/>
          <a:p>
            <a:r>
              <a:rPr lang="en-US" dirty="0"/>
              <a:t>Methods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6F327-C1D4-73C5-2095-69F4AB8A6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825910"/>
            <a:ext cx="7886700" cy="535105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i="1" dirty="0"/>
              <a:t>type name(parameter list)</a:t>
            </a:r>
          </a:p>
          <a:p>
            <a:pPr marL="0" indent="0">
              <a:buNone/>
            </a:pPr>
            <a:r>
              <a:rPr lang="en-US" i="1" dirty="0"/>
              <a:t>{</a:t>
            </a:r>
          </a:p>
          <a:p>
            <a:pPr marL="0" indent="0">
              <a:buNone/>
            </a:pPr>
            <a:r>
              <a:rPr lang="en-US" i="1" dirty="0"/>
              <a:t>//body of the method</a:t>
            </a:r>
          </a:p>
          <a:p>
            <a:pPr marL="0" indent="0">
              <a:buNone/>
            </a:pPr>
            <a:r>
              <a:rPr lang="en-US" i="1" dirty="0"/>
              <a:t>}</a:t>
            </a:r>
          </a:p>
          <a:p>
            <a:r>
              <a:rPr lang="en-US" dirty="0"/>
              <a:t>type specifies the type of data returned by the method. This can be any valid type, including class types that you create</a:t>
            </a:r>
          </a:p>
          <a:p>
            <a:r>
              <a:rPr lang="en-US" dirty="0"/>
              <a:t>If the method does not return a value, its return type must be void</a:t>
            </a:r>
          </a:p>
          <a:p>
            <a:r>
              <a:rPr lang="en-US" dirty="0"/>
              <a:t>The name of the method is specified by name</a:t>
            </a:r>
          </a:p>
          <a:p>
            <a:r>
              <a:rPr lang="en-US" dirty="0"/>
              <a:t>The parameter-list is a sequence of type and identifier pairs separated by commas. Parameters are essentially variables that receive the value of the arguments passed to the method when it is called. </a:t>
            </a:r>
          </a:p>
          <a:p>
            <a:r>
              <a:rPr lang="en-US" dirty="0"/>
              <a:t>If the method has no parameters, then the parameter list will be empty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24590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9358A6C-E8EB-4882-BC3E-25A74988FA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423" y="0"/>
            <a:ext cx="5449763" cy="6858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3C79B44-D69E-CFA8-5D8D-A860048FE87D}"/>
                  </a:ext>
                </a:extLst>
              </p14:cNvPr>
              <p14:cNvContentPartPr/>
              <p14:nvPr/>
            </p14:nvContentPartPr>
            <p14:xfrm>
              <a:off x="1666196" y="5794711"/>
              <a:ext cx="1209600" cy="90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3C79B44-D69E-CFA8-5D8D-A860048FE87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12196" y="5687071"/>
                <a:ext cx="1317240" cy="30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E0E6807-60EC-5CCE-7711-26FA190E0231}"/>
                  </a:ext>
                </a:extLst>
              </p14:cNvPr>
              <p14:cNvContentPartPr/>
              <p14:nvPr/>
            </p14:nvContentPartPr>
            <p14:xfrm>
              <a:off x="1695716" y="6326071"/>
              <a:ext cx="1178640" cy="450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E0E6807-60EC-5CCE-7711-26FA190E023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641716" y="6218071"/>
                <a:ext cx="1286280" cy="26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82EFF9AA-8C2B-4451-6341-AC17F71FA02B}"/>
                  </a:ext>
                </a:extLst>
              </p14:cNvPr>
              <p14:cNvContentPartPr/>
              <p14:nvPr/>
            </p14:nvContentPartPr>
            <p14:xfrm>
              <a:off x="5721956" y="1939831"/>
              <a:ext cx="728280" cy="655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82EFF9AA-8C2B-4451-6341-AC17F71FA02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667956" y="1831831"/>
                <a:ext cx="835920" cy="281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777443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7DFA7-FAAF-2F51-CEBF-4335F6DFB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Returning Value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D9FC977-F12C-B638-4BA7-A855D86145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890892"/>
            <a:ext cx="7399620" cy="4170695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55072D6-0B6E-1973-357F-592B246A8837}"/>
                  </a:ext>
                </a:extLst>
              </p14:cNvPr>
              <p14:cNvContentPartPr/>
              <p14:nvPr/>
            </p14:nvContentPartPr>
            <p14:xfrm>
              <a:off x="1503836" y="5027551"/>
              <a:ext cx="4231440" cy="756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55072D6-0B6E-1973-357F-592B246A883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50196" y="4919911"/>
                <a:ext cx="4339080" cy="29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B2FB33F-7331-5DAC-E26E-66F263FED25D}"/>
                  </a:ext>
                </a:extLst>
              </p14:cNvPr>
              <p14:cNvContentPartPr/>
              <p14:nvPr/>
            </p14:nvContentPartPr>
            <p14:xfrm>
              <a:off x="2492396" y="928649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B2FB33F-7331-5DAC-E26E-66F263FED25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438396" y="820649"/>
                <a:ext cx="108000" cy="21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911570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C3958B1-DD2A-4531-9607-D21D560A61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93" y="155318"/>
            <a:ext cx="6326904" cy="6721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674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B495A-D060-D4F2-D9DC-524A135D6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 with Parameters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5DFFA9A-EAB2-FBE6-9C06-8C7D3D8D42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6094" y="1690690"/>
            <a:ext cx="7891211" cy="4077492"/>
          </a:xfrm>
        </p:spPr>
      </p:pic>
    </p:spTree>
    <p:extLst>
      <p:ext uri="{BB962C8B-B14F-4D97-AF65-F5344CB8AC3E}">
        <p14:creationId xmlns:p14="http://schemas.microsoft.com/office/powerpoint/2010/main" val="12041808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F0DC51D-77B3-8FB5-88CC-09118BD3CC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8447"/>
            <a:ext cx="7890387" cy="66133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D8ABF96-06D0-2972-8A86-304FF93216F7}"/>
              </a:ext>
            </a:extLst>
          </p:cNvPr>
          <p:cNvSpPr txBox="1"/>
          <p:nvPr/>
        </p:nvSpPr>
        <p:spPr>
          <a:xfrm>
            <a:off x="3878826" y="5751871"/>
            <a:ext cx="44392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Parameterized method</a:t>
            </a:r>
            <a:endParaRPr lang="en-IN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71147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5F5769-8F8B-1D34-6ED4-98723ABDA5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92" y="0"/>
            <a:ext cx="904076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2949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BAB398A-C6A5-0EC3-B459-22799B941684}"/>
              </a:ext>
            </a:extLst>
          </p:cNvPr>
          <p:cNvSpPr/>
          <p:nvPr/>
        </p:nvSpPr>
        <p:spPr>
          <a:xfrm>
            <a:off x="2675617" y="2967335"/>
            <a:ext cx="379277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Thank You!!</a:t>
            </a:r>
            <a:endParaRPr lang="en-US" sz="5400" b="1" cap="none" spc="0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6503301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50</TotalTime>
  <Words>363</Words>
  <Application>Microsoft Office PowerPoint</Application>
  <PresentationFormat>On-screen Show (4:3)</PresentationFormat>
  <Paragraphs>33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Classes in Java</vt:lpstr>
      <vt:lpstr>Class Fundamentals</vt:lpstr>
      <vt:lpstr>PowerPoint Presentation</vt:lpstr>
      <vt:lpstr>Class Fundamentals</vt:lpstr>
      <vt:lpstr>PowerPoint Presentation</vt:lpstr>
      <vt:lpstr>Objects</vt:lpstr>
      <vt:lpstr>PowerPoint Presentation</vt:lpstr>
      <vt:lpstr>Methods</vt:lpstr>
      <vt:lpstr>PowerPoint Presentation</vt:lpstr>
      <vt:lpstr>Returning Value</vt:lpstr>
      <vt:lpstr>PowerPoint Presentation</vt:lpstr>
      <vt:lpstr>Methods with Parameters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 Ashwin Bhagat</dc:creator>
  <cp:lastModifiedBy>Dr Ashwin Bhagat</cp:lastModifiedBy>
  <cp:revision>26</cp:revision>
  <dcterms:created xsi:type="dcterms:W3CDTF">2024-08-29T16:00:09Z</dcterms:created>
  <dcterms:modified xsi:type="dcterms:W3CDTF">2025-08-20T05:22:48Z</dcterms:modified>
</cp:coreProperties>
</file>