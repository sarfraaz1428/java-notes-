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114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96CD9D-6939-4B38-ACD4-42D79F78E5BA}" type="datetimeFigureOut">
              <a:rPr lang="en-IN" smtClean="0"/>
              <a:t>27-11-2024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1E4270-5467-47A8-952E-174709A8816B}" type="slidenum">
              <a:rPr lang="en-IN" smtClean="0"/>
              <a:t>‹#›</a:t>
            </a:fld>
            <a:endParaRPr lang="en-IN"/>
          </a:p>
        </p:txBody>
      </p:sp>
    </p:spTree>
    <p:extLst>
      <p:ext uri="{BB962C8B-B14F-4D97-AF65-F5344CB8AC3E}">
        <p14:creationId xmlns:p14="http://schemas.microsoft.com/office/powerpoint/2010/main" val="3046611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96CD9D-6939-4B38-ACD4-42D79F78E5BA}" type="datetimeFigureOut">
              <a:rPr lang="en-IN" smtClean="0"/>
              <a:t>27-11-2024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1E4270-5467-47A8-952E-174709A8816B}" type="slidenum">
              <a:rPr lang="en-IN" smtClean="0"/>
              <a:t>‹#›</a:t>
            </a:fld>
            <a:endParaRPr lang="en-IN"/>
          </a:p>
        </p:txBody>
      </p:sp>
    </p:spTree>
    <p:extLst>
      <p:ext uri="{BB962C8B-B14F-4D97-AF65-F5344CB8AC3E}">
        <p14:creationId xmlns:p14="http://schemas.microsoft.com/office/powerpoint/2010/main" val="3287546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96CD9D-6939-4B38-ACD4-42D79F78E5BA}" type="datetimeFigureOut">
              <a:rPr lang="en-IN" smtClean="0"/>
              <a:t>27-11-2024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1E4270-5467-47A8-952E-174709A8816B}" type="slidenum">
              <a:rPr lang="en-IN" smtClean="0"/>
              <a:t>‹#›</a:t>
            </a:fld>
            <a:endParaRPr lang="en-IN"/>
          </a:p>
        </p:txBody>
      </p:sp>
    </p:spTree>
    <p:extLst>
      <p:ext uri="{BB962C8B-B14F-4D97-AF65-F5344CB8AC3E}">
        <p14:creationId xmlns:p14="http://schemas.microsoft.com/office/powerpoint/2010/main" val="2562285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96CD9D-6939-4B38-ACD4-42D79F78E5BA}" type="datetimeFigureOut">
              <a:rPr lang="en-IN" smtClean="0"/>
              <a:t>27-11-2024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1E4270-5467-47A8-952E-174709A8816B}" type="slidenum">
              <a:rPr lang="en-IN" smtClean="0"/>
              <a:t>‹#›</a:t>
            </a:fld>
            <a:endParaRPr lang="en-IN"/>
          </a:p>
        </p:txBody>
      </p:sp>
    </p:spTree>
    <p:extLst>
      <p:ext uri="{BB962C8B-B14F-4D97-AF65-F5344CB8AC3E}">
        <p14:creationId xmlns:p14="http://schemas.microsoft.com/office/powerpoint/2010/main" val="1570795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96CD9D-6939-4B38-ACD4-42D79F78E5BA}" type="datetimeFigureOut">
              <a:rPr lang="en-IN" smtClean="0"/>
              <a:t>27-11-2024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1E4270-5467-47A8-952E-174709A8816B}" type="slidenum">
              <a:rPr lang="en-IN" smtClean="0"/>
              <a:t>‹#›</a:t>
            </a:fld>
            <a:endParaRPr lang="en-IN"/>
          </a:p>
        </p:txBody>
      </p:sp>
    </p:spTree>
    <p:extLst>
      <p:ext uri="{BB962C8B-B14F-4D97-AF65-F5344CB8AC3E}">
        <p14:creationId xmlns:p14="http://schemas.microsoft.com/office/powerpoint/2010/main" val="775547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696CD9D-6939-4B38-ACD4-42D79F78E5BA}" type="datetimeFigureOut">
              <a:rPr lang="en-IN" smtClean="0"/>
              <a:t>27-11-2024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1E4270-5467-47A8-952E-174709A8816B}" type="slidenum">
              <a:rPr lang="en-IN" smtClean="0"/>
              <a:t>‹#›</a:t>
            </a:fld>
            <a:endParaRPr lang="en-IN"/>
          </a:p>
        </p:txBody>
      </p:sp>
    </p:spTree>
    <p:extLst>
      <p:ext uri="{BB962C8B-B14F-4D97-AF65-F5344CB8AC3E}">
        <p14:creationId xmlns:p14="http://schemas.microsoft.com/office/powerpoint/2010/main" val="434302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96CD9D-6939-4B38-ACD4-42D79F78E5BA}" type="datetimeFigureOut">
              <a:rPr lang="en-IN" smtClean="0"/>
              <a:t>27-11-2024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1E4270-5467-47A8-952E-174709A8816B}" type="slidenum">
              <a:rPr lang="en-IN" smtClean="0"/>
              <a:t>‹#›</a:t>
            </a:fld>
            <a:endParaRPr lang="en-IN"/>
          </a:p>
        </p:txBody>
      </p:sp>
    </p:spTree>
    <p:extLst>
      <p:ext uri="{BB962C8B-B14F-4D97-AF65-F5344CB8AC3E}">
        <p14:creationId xmlns:p14="http://schemas.microsoft.com/office/powerpoint/2010/main" val="270824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96CD9D-6939-4B38-ACD4-42D79F78E5BA}" type="datetimeFigureOut">
              <a:rPr lang="en-IN" smtClean="0"/>
              <a:t>27-11-2024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1E4270-5467-47A8-952E-174709A8816B}" type="slidenum">
              <a:rPr lang="en-IN" smtClean="0"/>
              <a:t>‹#›</a:t>
            </a:fld>
            <a:endParaRPr lang="en-IN"/>
          </a:p>
        </p:txBody>
      </p:sp>
    </p:spTree>
    <p:extLst>
      <p:ext uri="{BB962C8B-B14F-4D97-AF65-F5344CB8AC3E}">
        <p14:creationId xmlns:p14="http://schemas.microsoft.com/office/powerpoint/2010/main" val="1935491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96CD9D-6939-4B38-ACD4-42D79F78E5BA}" type="datetimeFigureOut">
              <a:rPr lang="en-IN" smtClean="0"/>
              <a:t>27-11-2024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1E4270-5467-47A8-952E-174709A8816B}" type="slidenum">
              <a:rPr lang="en-IN" smtClean="0"/>
              <a:t>‹#›</a:t>
            </a:fld>
            <a:endParaRPr lang="en-IN"/>
          </a:p>
        </p:txBody>
      </p:sp>
    </p:spTree>
    <p:extLst>
      <p:ext uri="{BB962C8B-B14F-4D97-AF65-F5344CB8AC3E}">
        <p14:creationId xmlns:p14="http://schemas.microsoft.com/office/powerpoint/2010/main" val="3057262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96CD9D-6939-4B38-ACD4-42D79F78E5BA}" type="datetimeFigureOut">
              <a:rPr lang="en-IN" smtClean="0"/>
              <a:t>27-11-2024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1E4270-5467-47A8-952E-174709A8816B}" type="slidenum">
              <a:rPr lang="en-IN" smtClean="0"/>
              <a:t>‹#›</a:t>
            </a:fld>
            <a:endParaRPr lang="en-IN"/>
          </a:p>
        </p:txBody>
      </p:sp>
    </p:spTree>
    <p:extLst>
      <p:ext uri="{BB962C8B-B14F-4D97-AF65-F5344CB8AC3E}">
        <p14:creationId xmlns:p14="http://schemas.microsoft.com/office/powerpoint/2010/main" val="3793935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96CD9D-6939-4B38-ACD4-42D79F78E5BA}" type="datetimeFigureOut">
              <a:rPr lang="en-IN" smtClean="0"/>
              <a:t>27-11-2024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1E4270-5467-47A8-952E-174709A8816B}" type="slidenum">
              <a:rPr lang="en-IN" smtClean="0"/>
              <a:t>‹#›</a:t>
            </a:fld>
            <a:endParaRPr lang="en-IN"/>
          </a:p>
        </p:txBody>
      </p:sp>
    </p:spTree>
    <p:extLst>
      <p:ext uri="{BB962C8B-B14F-4D97-AF65-F5344CB8AC3E}">
        <p14:creationId xmlns:p14="http://schemas.microsoft.com/office/powerpoint/2010/main" val="1846168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96CD9D-6939-4B38-ACD4-42D79F78E5BA}" type="datetimeFigureOut">
              <a:rPr lang="en-IN" smtClean="0"/>
              <a:t>27-11-2024</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1E4270-5467-47A8-952E-174709A8816B}" type="slidenum">
              <a:rPr lang="en-IN" smtClean="0"/>
              <a:t>‹#›</a:t>
            </a:fld>
            <a:endParaRPr lang="en-IN"/>
          </a:p>
        </p:txBody>
      </p:sp>
    </p:spTree>
    <p:extLst>
      <p:ext uri="{BB962C8B-B14F-4D97-AF65-F5344CB8AC3E}">
        <p14:creationId xmlns:p14="http://schemas.microsoft.com/office/powerpoint/2010/main" val="30240295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geeksforgeeks.org/overriding-in-java/"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C218F-9B06-3DEE-6DCA-CA185BAF349C}"/>
              </a:ext>
            </a:extLst>
          </p:cNvPr>
          <p:cNvSpPr>
            <a:spLocks noGrp="1"/>
          </p:cNvSpPr>
          <p:nvPr>
            <p:ph type="ctrTitle"/>
          </p:nvPr>
        </p:nvSpPr>
        <p:spPr/>
        <p:txBody>
          <a:bodyPr/>
          <a:lstStyle/>
          <a:p>
            <a:r>
              <a:rPr lang="en-US" dirty="0"/>
              <a:t>ABSTRACT CLASSES</a:t>
            </a:r>
            <a:endParaRPr lang="en-IN" dirty="0"/>
          </a:p>
        </p:txBody>
      </p:sp>
      <p:pic>
        <p:nvPicPr>
          <p:cNvPr id="5" name="Picture 4">
            <a:extLst>
              <a:ext uri="{FF2B5EF4-FFF2-40B4-BE49-F238E27FC236}">
                <a16:creationId xmlns:a16="http://schemas.microsoft.com/office/drawing/2014/main" id="{654CAED2-CC5F-68CE-B19E-7831C61A0D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9436" y="372971"/>
            <a:ext cx="5382376" cy="657317"/>
          </a:xfrm>
          <a:prstGeom prst="rect">
            <a:avLst/>
          </a:prstGeom>
        </p:spPr>
      </p:pic>
    </p:spTree>
    <p:extLst>
      <p:ext uri="{BB962C8B-B14F-4D97-AF65-F5344CB8AC3E}">
        <p14:creationId xmlns:p14="http://schemas.microsoft.com/office/powerpoint/2010/main" val="3534490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B499F-80F6-0C4C-E37E-CD5303282B30}"/>
              </a:ext>
            </a:extLst>
          </p:cNvPr>
          <p:cNvSpPr>
            <a:spLocks noGrp="1"/>
          </p:cNvSpPr>
          <p:nvPr>
            <p:ph type="title"/>
          </p:nvPr>
        </p:nvSpPr>
        <p:spPr/>
        <p:txBody>
          <a:bodyPr/>
          <a:lstStyle/>
          <a:p>
            <a:r>
              <a:rPr lang="en-US" dirty="0"/>
              <a:t>Background</a:t>
            </a:r>
            <a:endParaRPr lang="en-IN" dirty="0"/>
          </a:p>
        </p:txBody>
      </p:sp>
      <p:sp>
        <p:nvSpPr>
          <p:cNvPr id="3" name="Content Placeholder 2">
            <a:extLst>
              <a:ext uri="{FF2B5EF4-FFF2-40B4-BE49-F238E27FC236}">
                <a16:creationId xmlns:a16="http://schemas.microsoft.com/office/drawing/2014/main" id="{4C7CE3F0-3B1D-E7EA-8317-6688DCBA25D8}"/>
              </a:ext>
            </a:extLst>
          </p:cNvPr>
          <p:cNvSpPr>
            <a:spLocks noGrp="1"/>
          </p:cNvSpPr>
          <p:nvPr>
            <p:ph idx="1"/>
          </p:nvPr>
        </p:nvSpPr>
        <p:spPr>
          <a:xfrm>
            <a:off x="628650" y="1825624"/>
            <a:ext cx="7886700" cy="4667249"/>
          </a:xfrm>
        </p:spPr>
        <p:txBody>
          <a:bodyPr>
            <a:normAutofit fontScale="92500" lnSpcReduction="20000"/>
          </a:bodyPr>
          <a:lstStyle/>
          <a:p>
            <a:r>
              <a:rPr lang="en-US" b="0" i="0" dirty="0">
                <a:solidFill>
                  <a:srgbClr val="000000"/>
                </a:solidFill>
                <a:effectLst/>
                <a:latin typeface="Arial" panose="020B0604020202020204" pitchFamily="34" charset="0"/>
              </a:rPr>
              <a:t>Abstract classes are similar to interfaces.</a:t>
            </a:r>
          </a:p>
          <a:p>
            <a:r>
              <a:rPr lang="en-US" dirty="0">
                <a:solidFill>
                  <a:srgbClr val="000000"/>
                </a:solidFill>
                <a:latin typeface="Arial" panose="020B0604020202020204" pitchFamily="34" charset="0"/>
              </a:rPr>
              <a:t>We</a:t>
            </a:r>
            <a:r>
              <a:rPr lang="en-US" b="0" i="0" dirty="0">
                <a:solidFill>
                  <a:srgbClr val="000000"/>
                </a:solidFill>
                <a:effectLst/>
                <a:latin typeface="Arial" panose="020B0604020202020204" pitchFamily="34" charset="0"/>
              </a:rPr>
              <a:t> cannot instantiate them, and they may contain a mix of methods declared with or without an implementation</a:t>
            </a:r>
          </a:p>
          <a:p>
            <a:r>
              <a:rPr lang="en-US" b="0" i="0" dirty="0">
                <a:solidFill>
                  <a:srgbClr val="000000"/>
                </a:solidFill>
                <a:effectLst/>
                <a:latin typeface="Arial" panose="020B0604020202020204" pitchFamily="34" charset="0"/>
              </a:rPr>
              <a:t>with abstract classes, we can declare fields that are not static and final, and define public, protected, and private concrete methods</a:t>
            </a:r>
          </a:p>
          <a:p>
            <a:r>
              <a:rPr lang="en-US" b="0" i="0" dirty="0">
                <a:solidFill>
                  <a:srgbClr val="000000"/>
                </a:solidFill>
                <a:effectLst/>
                <a:latin typeface="Arial" panose="020B0604020202020204" pitchFamily="34" charset="0"/>
              </a:rPr>
              <a:t>With interfaces, all fields are automatically public, static, and final, and all methods that you declare or define (as default methods) are public</a:t>
            </a:r>
          </a:p>
          <a:p>
            <a:r>
              <a:rPr lang="en-US" b="0" i="0">
                <a:solidFill>
                  <a:srgbClr val="000000"/>
                </a:solidFill>
                <a:effectLst/>
                <a:latin typeface="Arial" panose="020B0604020202020204" pitchFamily="34" charset="0"/>
              </a:rPr>
              <a:t>A class can </a:t>
            </a:r>
            <a:r>
              <a:rPr lang="en-US" b="0" i="0" dirty="0">
                <a:solidFill>
                  <a:srgbClr val="000000"/>
                </a:solidFill>
                <a:effectLst/>
                <a:latin typeface="Arial" panose="020B0604020202020204" pitchFamily="34" charset="0"/>
              </a:rPr>
              <a:t>extend only one class, whether or not it is abstract, whereas you can implement any number of interfaces</a:t>
            </a:r>
            <a:endParaRPr lang="en-IN" dirty="0"/>
          </a:p>
        </p:txBody>
      </p:sp>
    </p:spTree>
    <p:extLst>
      <p:ext uri="{BB962C8B-B14F-4D97-AF65-F5344CB8AC3E}">
        <p14:creationId xmlns:p14="http://schemas.microsoft.com/office/powerpoint/2010/main" val="2867601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A4652-E779-6500-0836-39CAADDCC5D5}"/>
              </a:ext>
            </a:extLst>
          </p:cNvPr>
          <p:cNvSpPr>
            <a:spLocks noGrp="1"/>
          </p:cNvSpPr>
          <p:nvPr>
            <p:ph type="title"/>
          </p:nvPr>
        </p:nvSpPr>
        <p:spPr>
          <a:xfrm>
            <a:off x="628650" y="365127"/>
            <a:ext cx="7886700" cy="844242"/>
          </a:xfrm>
        </p:spPr>
        <p:txBody>
          <a:bodyPr/>
          <a:lstStyle/>
          <a:p>
            <a:r>
              <a:rPr lang="en-US" dirty="0"/>
              <a:t>Background</a:t>
            </a:r>
            <a:endParaRPr lang="en-IN" dirty="0"/>
          </a:p>
        </p:txBody>
      </p:sp>
      <p:sp>
        <p:nvSpPr>
          <p:cNvPr id="3" name="Content Placeholder 2">
            <a:extLst>
              <a:ext uri="{FF2B5EF4-FFF2-40B4-BE49-F238E27FC236}">
                <a16:creationId xmlns:a16="http://schemas.microsoft.com/office/drawing/2014/main" id="{498B50AD-AB89-A985-28AA-AD9064C74D7E}"/>
              </a:ext>
            </a:extLst>
          </p:cNvPr>
          <p:cNvSpPr>
            <a:spLocks noGrp="1"/>
          </p:cNvSpPr>
          <p:nvPr>
            <p:ph idx="1"/>
          </p:nvPr>
        </p:nvSpPr>
        <p:spPr>
          <a:xfrm>
            <a:off x="628650" y="1209369"/>
            <a:ext cx="7886700" cy="5283504"/>
          </a:xfrm>
        </p:spPr>
        <p:txBody>
          <a:bodyPr>
            <a:normAutofit fontScale="92500" lnSpcReduction="10000"/>
          </a:bodyPr>
          <a:lstStyle/>
          <a:p>
            <a:r>
              <a:rPr lang="en-US" b="0" i="0" dirty="0">
                <a:solidFill>
                  <a:srgbClr val="273239"/>
                </a:solidFill>
                <a:effectLst/>
                <a:latin typeface="Nunito" pitchFamily="2" charset="0"/>
              </a:rPr>
              <a:t>we require just method declaration in super-classes</a:t>
            </a:r>
          </a:p>
          <a:p>
            <a:r>
              <a:rPr lang="en-US" b="0" i="0" dirty="0">
                <a:solidFill>
                  <a:srgbClr val="273239"/>
                </a:solidFill>
                <a:effectLst/>
                <a:latin typeface="Nunito" pitchFamily="2" charset="0"/>
              </a:rPr>
              <a:t>Abstraction can be achieved using abstract class and abstract methods</a:t>
            </a:r>
            <a:endParaRPr lang="en-US" dirty="0">
              <a:solidFill>
                <a:srgbClr val="273239"/>
              </a:solidFill>
              <a:latin typeface="Nunito" pitchFamily="2" charset="0"/>
            </a:endParaRPr>
          </a:p>
          <a:p>
            <a:r>
              <a:rPr lang="en-US" b="0" i="0" dirty="0">
                <a:solidFill>
                  <a:srgbClr val="273239"/>
                </a:solidFill>
                <a:effectLst/>
                <a:latin typeface="Nunito" pitchFamily="2" charset="0"/>
              </a:rPr>
              <a:t>The abstract Method is used for creating blueprints for classes or interfaces</a:t>
            </a:r>
          </a:p>
          <a:p>
            <a:r>
              <a:rPr lang="en-US" b="0" i="0" dirty="0">
                <a:solidFill>
                  <a:srgbClr val="273239"/>
                </a:solidFill>
                <a:effectLst/>
                <a:latin typeface="Nunito" pitchFamily="2" charset="0"/>
              </a:rPr>
              <a:t>methods are defined but these </a:t>
            </a:r>
            <a:r>
              <a:rPr lang="en-US" b="0" i="0" dirty="0">
                <a:solidFill>
                  <a:srgbClr val="FF0000"/>
                </a:solidFill>
                <a:effectLst/>
                <a:latin typeface="Nunito" pitchFamily="2" charset="0"/>
              </a:rPr>
              <a:t>methods don’t provide the implementation. </a:t>
            </a:r>
          </a:p>
          <a:p>
            <a:r>
              <a:rPr lang="en-US" b="0" i="0" dirty="0">
                <a:solidFill>
                  <a:srgbClr val="273239"/>
                </a:solidFill>
                <a:effectLst/>
                <a:latin typeface="Nunito" pitchFamily="2" charset="0"/>
              </a:rPr>
              <a:t>Abstract Methods </a:t>
            </a:r>
            <a:r>
              <a:rPr lang="en-US" b="0" i="0" dirty="0">
                <a:solidFill>
                  <a:srgbClr val="FF0000"/>
                </a:solidFill>
                <a:effectLst/>
                <a:latin typeface="Nunito" pitchFamily="2" charset="0"/>
              </a:rPr>
              <a:t>can only be implemented using subclasses</a:t>
            </a:r>
            <a:r>
              <a:rPr lang="en-US" b="0" i="0" dirty="0">
                <a:solidFill>
                  <a:srgbClr val="273239"/>
                </a:solidFill>
                <a:effectLst/>
                <a:latin typeface="Nunito" pitchFamily="2" charset="0"/>
              </a:rPr>
              <a:t> or classes that implement the interfaces.</a:t>
            </a:r>
          </a:p>
          <a:p>
            <a:r>
              <a:rPr lang="en-US" b="0" i="0" dirty="0">
                <a:solidFill>
                  <a:srgbClr val="273239"/>
                </a:solidFill>
                <a:effectLst/>
                <a:latin typeface="Nunito" pitchFamily="2" charset="0"/>
              </a:rPr>
              <a:t>a subclass must </a:t>
            </a:r>
            <a:r>
              <a:rPr lang="en-US" b="0" i="0" u="sng" dirty="0">
                <a:effectLst/>
                <a:latin typeface="Nunito" pitchFamily="2" charset="0"/>
                <a:hlinkClick r:id="rId2"/>
              </a:rPr>
              <a:t>override</a:t>
            </a:r>
            <a:r>
              <a:rPr lang="en-US" b="0" i="0" dirty="0">
                <a:solidFill>
                  <a:srgbClr val="273239"/>
                </a:solidFill>
                <a:effectLst/>
                <a:latin typeface="Nunito" pitchFamily="2" charset="0"/>
              </a:rPr>
              <a:t> them to provide a method definition</a:t>
            </a:r>
            <a:endParaRPr lang="en-IN" dirty="0"/>
          </a:p>
        </p:txBody>
      </p:sp>
    </p:spTree>
    <p:extLst>
      <p:ext uri="{BB962C8B-B14F-4D97-AF65-F5344CB8AC3E}">
        <p14:creationId xmlns:p14="http://schemas.microsoft.com/office/powerpoint/2010/main" val="1693990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9CD0C-5767-4AFE-B94A-FA4ABF3E3080}"/>
              </a:ext>
            </a:extLst>
          </p:cNvPr>
          <p:cNvSpPr>
            <a:spLocks noGrp="1"/>
          </p:cNvSpPr>
          <p:nvPr>
            <p:ph type="title"/>
          </p:nvPr>
        </p:nvSpPr>
        <p:spPr>
          <a:xfrm>
            <a:off x="628650" y="365127"/>
            <a:ext cx="7886700" cy="770500"/>
          </a:xfrm>
        </p:spPr>
        <p:txBody>
          <a:bodyPr/>
          <a:lstStyle/>
          <a:p>
            <a:r>
              <a:rPr lang="en-US" dirty="0"/>
              <a:t>Points for Abstract Classes</a:t>
            </a:r>
            <a:endParaRPr lang="en-IN" dirty="0"/>
          </a:p>
        </p:txBody>
      </p:sp>
      <p:sp>
        <p:nvSpPr>
          <p:cNvPr id="3" name="Content Placeholder 2">
            <a:extLst>
              <a:ext uri="{FF2B5EF4-FFF2-40B4-BE49-F238E27FC236}">
                <a16:creationId xmlns:a16="http://schemas.microsoft.com/office/drawing/2014/main" id="{B0F69587-A351-CD71-42BE-57329FD60AEB}"/>
              </a:ext>
            </a:extLst>
          </p:cNvPr>
          <p:cNvSpPr>
            <a:spLocks noGrp="1"/>
          </p:cNvSpPr>
          <p:nvPr>
            <p:ph idx="1"/>
          </p:nvPr>
        </p:nvSpPr>
        <p:spPr>
          <a:xfrm>
            <a:off x="628650" y="1489587"/>
            <a:ext cx="7886700" cy="4687376"/>
          </a:xfrm>
        </p:spPr>
        <p:txBody>
          <a:bodyPr>
            <a:normAutofit lnSpcReduction="10000"/>
          </a:bodyPr>
          <a:lstStyle/>
          <a:p>
            <a:r>
              <a:rPr lang="en-US" b="0" i="1" dirty="0">
                <a:solidFill>
                  <a:srgbClr val="273239"/>
                </a:solidFill>
                <a:effectLst/>
                <a:latin typeface="Nunito" pitchFamily="2" charset="0"/>
              </a:rPr>
              <a:t>Any class that contains one or more abstract methods must also be declared abstract.</a:t>
            </a:r>
          </a:p>
          <a:p>
            <a:pPr algn="l" fontAlgn="base">
              <a:buFont typeface="Arial" panose="020B0604020202020204" pitchFamily="34" charset="0"/>
              <a:buChar char="•"/>
            </a:pPr>
            <a:r>
              <a:rPr lang="en-US" b="0" i="1" dirty="0">
                <a:solidFill>
                  <a:srgbClr val="273239"/>
                </a:solidFill>
                <a:effectLst/>
                <a:latin typeface="Nunito" pitchFamily="2" charset="0"/>
              </a:rPr>
              <a:t>If a class contains an abstract method it needs to be abstract and vice versa is not true.</a:t>
            </a:r>
          </a:p>
          <a:p>
            <a:r>
              <a:rPr lang="en-US" b="0" i="1" dirty="0">
                <a:solidFill>
                  <a:srgbClr val="273239"/>
                </a:solidFill>
                <a:effectLst/>
                <a:latin typeface="Nunito" pitchFamily="2" charset="0"/>
              </a:rPr>
              <a:t>if a non-abstract class extends an abstract class, then the class must implement all the abstract methods of the abstract class else the concrete class has to be declared as abstract as well.</a:t>
            </a:r>
          </a:p>
          <a:p>
            <a:r>
              <a:rPr lang="en-US" dirty="0"/>
              <a:t>Cannot use final, native, synchronized, static, private keywords with </a:t>
            </a:r>
            <a:r>
              <a:rPr lang="en-US"/>
              <a:t>abstract classes</a:t>
            </a:r>
            <a:br>
              <a:rPr lang="en-US"/>
            </a:br>
            <a:endParaRPr lang="en-US" b="0" i="1" dirty="0">
              <a:solidFill>
                <a:srgbClr val="273239"/>
              </a:solidFill>
              <a:effectLst/>
              <a:latin typeface="Nunito" pitchFamily="2" charset="0"/>
            </a:endParaRPr>
          </a:p>
          <a:p>
            <a:endParaRPr lang="en-IN" dirty="0"/>
          </a:p>
        </p:txBody>
      </p:sp>
    </p:spTree>
    <p:extLst>
      <p:ext uri="{BB962C8B-B14F-4D97-AF65-F5344CB8AC3E}">
        <p14:creationId xmlns:p14="http://schemas.microsoft.com/office/powerpoint/2010/main" val="2673015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23E9FB-5898-486F-575C-DE9F70091E0F}"/>
              </a:ext>
            </a:extLst>
          </p:cNvPr>
          <p:cNvPicPr>
            <a:picLocks noChangeAspect="1"/>
          </p:cNvPicPr>
          <p:nvPr/>
        </p:nvPicPr>
        <p:blipFill>
          <a:blip r:embed="rId2"/>
          <a:stretch>
            <a:fillRect/>
          </a:stretch>
        </p:blipFill>
        <p:spPr>
          <a:xfrm>
            <a:off x="1201071" y="0"/>
            <a:ext cx="6423844" cy="6849264"/>
          </a:xfrm>
          <a:prstGeom prst="rect">
            <a:avLst/>
          </a:prstGeom>
        </p:spPr>
      </p:pic>
    </p:spTree>
    <p:extLst>
      <p:ext uri="{BB962C8B-B14F-4D97-AF65-F5344CB8AC3E}">
        <p14:creationId xmlns:p14="http://schemas.microsoft.com/office/powerpoint/2010/main" val="722944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045F6-E6B9-B1F1-DEF6-E2A899F6684B}"/>
              </a:ext>
            </a:extLst>
          </p:cNvPr>
          <p:cNvSpPr>
            <a:spLocks noGrp="1"/>
          </p:cNvSpPr>
          <p:nvPr>
            <p:ph type="title"/>
          </p:nvPr>
        </p:nvSpPr>
        <p:spPr/>
        <p:txBody>
          <a:bodyPr/>
          <a:lstStyle/>
          <a:p>
            <a:r>
              <a:rPr lang="en-US" dirty="0"/>
              <a:t>Main method</a:t>
            </a:r>
            <a:endParaRPr lang="en-IN" dirty="0"/>
          </a:p>
        </p:txBody>
      </p:sp>
      <p:pic>
        <p:nvPicPr>
          <p:cNvPr id="5" name="Content Placeholder 4">
            <a:extLst>
              <a:ext uri="{FF2B5EF4-FFF2-40B4-BE49-F238E27FC236}">
                <a16:creationId xmlns:a16="http://schemas.microsoft.com/office/drawing/2014/main" id="{667DBF81-67B1-9A75-9D1C-DA64BEF726CA}"/>
              </a:ext>
            </a:extLst>
          </p:cNvPr>
          <p:cNvPicPr>
            <a:picLocks noGrp="1" noChangeAspect="1"/>
          </p:cNvPicPr>
          <p:nvPr>
            <p:ph idx="1"/>
          </p:nvPr>
        </p:nvPicPr>
        <p:blipFill>
          <a:blip r:embed="rId2"/>
          <a:stretch>
            <a:fillRect/>
          </a:stretch>
        </p:blipFill>
        <p:spPr>
          <a:xfrm>
            <a:off x="628649" y="2120566"/>
            <a:ext cx="7886699" cy="4102677"/>
          </a:xfrm>
        </p:spPr>
      </p:pic>
    </p:spTree>
    <p:extLst>
      <p:ext uri="{BB962C8B-B14F-4D97-AF65-F5344CB8AC3E}">
        <p14:creationId xmlns:p14="http://schemas.microsoft.com/office/powerpoint/2010/main" val="3466805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6C6A6DB-301F-428C-64AF-8D5807B31A6C}"/>
              </a:ext>
            </a:extLst>
          </p:cNvPr>
          <p:cNvPicPr>
            <a:picLocks noChangeAspect="1"/>
          </p:cNvPicPr>
          <p:nvPr/>
        </p:nvPicPr>
        <p:blipFill>
          <a:blip r:embed="rId2"/>
          <a:stretch>
            <a:fillRect/>
          </a:stretch>
        </p:blipFill>
        <p:spPr>
          <a:xfrm>
            <a:off x="943895" y="0"/>
            <a:ext cx="7285703" cy="6741369"/>
          </a:xfrm>
          <a:prstGeom prst="rect">
            <a:avLst/>
          </a:prstGeom>
        </p:spPr>
      </p:pic>
    </p:spTree>
    <p:extLst>
      <p:ext uri="{BB962C8B-B14F-4D97-AF65-F5344CB8AC3E}">
        <p14:creationId xmlns:p14="http://schemas.microsoft.com/office/powerpoint/2010/main" val="3161214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BAB52-0842-AFD6-8967-6216D5545C7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D42C3F5-0696-3AAB-1A13-3956783669A1}"/>
              </a:ext>
            </a:extLst>
          </p:cNvPr>
          <p:cNvPicPr>
            <a:picLocks noGrp="1" noChangeAspect="1"/>
          </p:cNvPicPr>
          <p:nvPr>
            <p:ph idx="1"/>
          </p:nvPr>
        </p:nvPicPr>
        <p:blipFill>
          <a:blip r:embed="rId2"/>
          <a:stretch>
            <a:fillRect/>
          </a:stretch>
        </p:blipFill>
        <p:spPr>
          <a:xfrm>
            <a:off x="666750" y="2199225"/>
            <a:ext cx="7328616" cy="3110193"/>
          </a:xfrm>
        </p:spPr>
      </p:pic>
    </p:spTree>
    <p:extLst>
      <p:ext uri="{BB962C8B-B14F-4D97-AF65-F5344CB8AC3E}">
        <p14:creationId xmlns:p14="http://schemas.microsoft.com/office/powerpoint/2010/main" val="2414478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97A051-FECB-8212-3B15-502C0C8D74D3}"/>
              </a:ext>
            </a:extLst>
          </p:cNvPr>
          <p:cNvPicPr>
            <a:picLocks noChangeAspect="1"/>
          </p:cNvPicPr>
          <p:nvPr/>
        </p:nvPicPr>
        <p:blipFill>
          <a:blip r:embed="rId2"/>
          <a:stretch>
            <a:fillRect/>
          </a:stretch>
        </p:blipFill>
        <p:spPr>
          <a:xfrm>
            <a:off x="1106132" y="-1"/>
            <a:ext cx="6902245" cy="6847897"/>
          </a:xfrm>
          <a:prstGeom prst="rect">
            <a:avLst/>
          </a:prstGeom>
        </p:spPr>
      </p:pic>
    </p:spTree>
    <p:extLst>
      <p:ext uri="{BB962C8B-B14F-4D97-AF65-F5344CB8AC3E}">
        <p14:creationId xmlns:p14="http://schemas.microsoft.com/office/powerpoint/2010/main" val="3607943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FBC3D-3838-B4D6-26AA-9F3412366A8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FCFC1AF-2340-0E57-77E8-72E6701556AF}"/>
              </a:ext>
            </a:extLst>
          </p:cNvPr>
          <p:cNvPicPr>
            <a:picLocks noGrp="1" noChangeAspect="1"/>
          </p:cNvPicPr>
          <p:nvPr>
            <p:ph idx="1"/>
          </p:nvPr>
        </p:nvPicPr>
        <p:blipFill>
          <a:blip r:embed="rId2"/>
          <a:stretch>
            <a:fillRect/>
          </a:stretch>
        </p:blipFill>
        <p:spPr>
          <a:xfrm>
            <a:off x="628649" y="1985988"/>
            <a:ext cx="7876235" cy="3441418"/>
          </a:xfrm>
        </p:spPr>
      </p:pic>
    </p:spTree>
    <p:extLst>
      <p:ext uri="{BB962C8B-B14F-4D97-AF65-F5344CB8AC3E}">
        <p14:creationId xmlns:p14="http://schemas.microsoft.com/office/powerpoint/2010/main" val="3690432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1434DE5-8AE9-1740-9C27-04159757F51F}"/>
              </a:ext>
            </a:extLst>
          </p:cNvPr>
          <p:cNvSpPr/>
          <p:nvPr/>
        </p:nvSpPr>
        <p:spPr>
          <a:xfrm>
            <a:off x="3239746" y="2967335"/>
            <a:ext cx="2664512"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The End</a:t>
            </a:r>
          </a:p>
        </p:txBody>
      </p:sp>
    </p:spTree>
    <p:extLst>
      <p:ext uri="{BB962C8B-B14F-4D97-AF65-F5344CB8AC3E}">
        <p14:creationId xmlns:p14="http://schemas.microsoft.com/office/powerpoint/2010/main" val="41864128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78</TotalTime>
  <Words>265</Words>
  <Application>Microsoft Office PowerPoint</Application>
  <PresentationFormat>On-screen Show (4:3)</PresentationFormat>
  <Paragraphs>21</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Nunito</vt:lpstr>
      <vt:lpstr>Office Theme</vt:lpstr>
      <vt:lpstr>ABSTRACT CLASSES</vt:lpstr>
      <vt:lpstr>Background</vt:lpstr>
      <vt:lpstr>Background</vt:lpstr>
      <vt:lpstr>Points for Abstract Classes</vt:lpstr>
      <vt:lpstr>PowerPoint Presentation</vt:lpstr>
      <vt:lpstr>Main method</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Ashwin Bhagat</dc:creator>
  <cp:lastModifiedBy>Dr Ashwin Bhagat</cp:lastModifiedBy>
  <cp:revision>22</cp:revision>
  <dcterms:created xsi:type="dcterms:W3CDTF">2024-09-23T15:24:22Z</dcterms:created>
  <dcterms:modified xsi:type="dcterms:W3CDTF">2024-11-27T16:09:52Z</dcterms:modified>
</cp:coreProperties>
</file>